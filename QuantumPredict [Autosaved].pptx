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C71C77-5615-4501-8AB9-6403CAE1B573}" type="doc">
      <dgm:prSet loTypeId="urn:microsoft.com/office/officeart/2018/2/layout/IconLabelList" loCatId="icon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60739298-C99D-4867-AB7D-F223A6CA9E4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1. Cryptography &amp; Security</a:t>
          </a:r>
          <a:endParaRPr lang="en-US"/>
        </a:p>
      </dgm:t>
    </dgm:pt>
    <dgm:pt modelId="{AB3188DF-0CFC-4BCA-BF44-FAEEDB44E8C8}" type="parTrans" cxnId="{E1753FC9-2AAC-4F9B-B342-22189535AA8E}">
      <dgm:prSet/>
      <dgm:spPr/>
      <dgm:t>
        <a:bodyPr/>
        <a:lstStyle/>
        <a:p>
          <a:endParaRPr lang="en-US"/>
        </a:p>
      </dgm:t>
    </dgm:pt>
    <dgm:pt modelId="{B281CDF4-19A3-4F29-9DEF-2FD5D24F3392}" type="sibTrans" cxnId="{E1753FC9-2AAC-4F9B-B342-22189535AA8E}">
      <dgm:prSet/>
      <dgm:spPr/>
      <dgm:t>
        <a:bodyPr/>
        <a:lstStyle/>
        <a:p>
          <a:endParaRPr lang="en-US"/>
        </a:p>
      </dgm:t>
    </dgm:pt>
    <dgm:pt modelId="{48587353-5556-4ED2-A021-797A363E7D1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Breaking classical encryption and developing quantum-safe cryptographic algorithms.</a:t>
          </a:r>
          <a:endParaRPr lang="en-US"/>
        </a:p>
      </dgm:t>
    </dgm:pt>
    <dgm:pt modelId="{51F84E77-952F-4FF7-BC4E-DE710C72ED41}" type="parTrans" cxnId="{0E86F1E7-7DBD-41AF-A93C-4E98EF5E0AEA}">
      <dgm:prSet/>
      <dgm:spPr/>
      <dgm:t>
        <a:bodyPr/>
        <a:lstStyle/>
        <a:p>
          <a:endParaRPr lang="en-US"/>
        </a:p>
      </dgm:t>
    </dgm:pt>
    <dgm:pt modelId="{C2261FD2-FE29-4E1A-9A44-91EF388EF428}" type="sibTrans" cxnId="{0E86F1E7-7DBD-41AF-A93C-4E98EF5E0AEA}">
      <dgm:prSet/>
      <dgm:spPr/>
      <dgm:t>
        <a:bodyPr/>
        <a:lstStyle/>
        <a:p>
          <a:endParaRPr lang="en-US"/>
        </a:p>
      </dgm:t>
    </dgm:pt>
    <dgm:pt modelId="{BECC2DE3-D5EE-404B-9307-8FECA407ED2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2. Drug Discovery &amp; Molecular Simulation</a:t>
          </a:r>
          <a:endParaRPr lang="en-US" dirty="0"/>
        </a:p>
      </dgm:t>
    </dgm:pt>
    <dgm:pt modelId="{617D9DC7-896A-4165-AFB0-24178353BD85}" type="parTrans" cxnId="{B49DECE1-2BA0-4D11-B017-BE452FE7DCAF}">
      <dgm:prSet/>
      <dgm:spPr/>
      <dgm:t>
        <a:bodyPr/>
        <a:lstStyle/>
        <a:p>
          <a:endParaRPr lang="en-US"/>
        </a:p>
      </dgm:t>
    </dgm:pt>
    <dgm:pt modelId="{F099D613-C758-4CD1-9576-69EF904FDED6}" type="sibTrans" cxnId="{B49DECE1-2BA0-4D11-B017-BE452FE7DCAF}">
      <dgm:prSet/>
      <dgm:spPr/>
      <dgm:t>
        <a:bodyPr/>
        <a:lstStyle/>
        <a:p>
          <a:endParaRPr lang="en-US"/>
        </a:p>
      </dgm:t>
    </dgm:pt>
    <dgm:pt modelId="{33FB32E4-F044-408E-A9B6-9824A63BF4C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Simulates molecules at the quantum level to accelerate new medicines and material design.</a:t>
          </a:r>
          <a:endParaRPr lang="en-US"/>
        </a:p>
      </dgm:t>
    </dgm:pt>
    <dgm:pt modelId="{6CAFFC32-764B-480F-84D4-DE9F902AC96E}" type="parTrans" cxnId="{516D6E5F-5C08-4D8D-ABA9-E331DE9FF3FB}">
      <dgm:prSet/>
      <dgm:spPr/>
      <dgm:t>
        <a:bodyPr/>
        <a:lstStyle/>
        <a:p>
          <a:endParaRPr lang="en-US"/>
        </a:p>
      </dgm:t>
    </dgm:pt>
    <dgm:pt modelId="{3781A217-0F90-444C-A7E2-F48042D7A675}" type="sibTrans" cxnId="{516D6E5F-5C08-4D8D-ABA9-E331DE9FF3FB}">
      <dgm:prSet/>
      <dgm:spPr/>
      <dgm:t>
        <a:bodyPr/>
        <a:lstStyle/>
        <a:p>
          <a:endParaRPr lang="en-US"/>
        </a:p>
      </dgm:t>
    </dgm:pt>
    <dgm:pt modelId="{7925855A-B4B3-4168-B252-A5C8549003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3. Optimization Problems</a:t>
          </a:r>
          <a:endParaRPr lang="en-US"/>
        </a:p>
      </dgm:t>
    </dgm:pt>
    <dgm:pt modelId="{6ECAB3F6-AECA-42C0-83D1-5BC05080001B}" type="parTrans" cxnId="{FE669CDA-AA5C-4F35-A527-62A85B818ACB}">
      <dgm:prSet/>
      <dgm:spPr/>
      <dgm:t>
        <a:bodyPr/>
        <a:lstStyle/>
        <a:p>
          <a:endParaRPr lang="en-US"/>
        </a:p>
      </dgm:t>
    </dgm:pt>
    <dgm:pt modelId="{05623D7A-A55A-4B34-9B3D-245F3EE74C05}" type="sibTrans" cxnId="{FE669CDA-AA5C-4F35-A527-62A85B818ACB}">
      <dgm:prSet/>
      <dgm:spPr/>
      <dgm:t>
        <a:bodyPr/>
        <a:lstStyle/>
        <a:p>
          <a:endParaRPr lang="en-US"/>
        </a:p>
      </dgm:t>
    </dgm:pt>
    <dgm:pt modelId="{8E46BE3E-BC45-4F07-908A-A233E118A5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Solves complex optimization tasks in logistics, supply chain, finance, and energy systems.</a:t>
          </a:r>
          <a:endParaRPr lang="en-US"/>
        </a:p>
      </dgm:t>
    </dgm:pt>
    <dgm:pt modelId="{FF92F6C3-42FF-4E15-B025-DD454512207C}" type="parTrans" cxnId="{D50F136D-93AB-4E10-AE24-2814D0A69113}">
      <dgm:prSet/>
      <dgm:spPr/>
      <dgm:t>
        <a:bodyPr/>
        <a:lstStyle/>
        <a:p>
          <a:endParaRPr lang="en-US"/>
        </a:p>
      </dgm:t>
    </dgm:pt>
    <dgm:pt modelId="{B73619D3-F4CB-4AF7-95C0-8F84E7D38AC1}" type="sibTrans" cxnId="{D50F136D-93AB-4E10-AE24-2814D0A69113}">
      <dgm:prSet/>
      <dgm:spPr/>
      <dgm:t>
        <a:bodyPr/>
        <a:lstStyle/>
        <a:p>
          <a:endParaRPr lang="en-US"/>
        </a:p>
      </dgm:t>
    </dgm:pt>
    <dgm:pt modelId="{AEDC3AB5-44C1-4208-BE33-E0950BB7B9B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4. Machine Learning &amp; AI Acceleration</a:t>
          </a:r>
          <a:endParaRPr lang="en-US"/>
        </a:p>
      </dgm:t>
    </dgm:pt>
    <dgm:pt modelId="{96E86B5D-5207-400E-B84B-C7858D3F2D64}" type="parTrans" cxnId="{882C8C54-5AD1-4739-866B-90F076171228}">
      <dgm:prSet/>
      <dgm:spPr/>
      <dgm:t>
        <a:bodyPr/>
        <a:lstStyle/>
        <a:p>
          <a:endParaRPr lang="en-US"/>
        </a:p>
      </dgm:t>
    </dgm:pt>
    <dgm:pt modelId="{20683B19-02DC-45C1-9BF4-CA7E2D5B4830}" type="sibTrans" cxnId="{882C8C54-5AD1-4739-866B-90F076171228}">
      <dgm:prSet/>
      <dgm:spPr/>
      <dgm:t>
        <a:bodyPr/>
        <a:lstStyle/>
        <a:p>
          <a:endParaRPr lang="en-US"/>
        </a:p>
      </dgm:t>
    </dgm:pt>
    <dgm:pt modelId="{E0E2F624-CD3D-47AE-993A-017F6A0ABB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Quantum ML algorithms can process high-dimensional data faster than classical models.</a:t>
          </a:r>
          <a:endParaRPr lang="en-US"/>
        </a:p>
      </dgm:t>
    </dgm:pt>
    <dgm:pt modelId="{C8ADCA9C-2E21-49F2-986E-81CF9697982B}" type="parTrans" cxnId="{D5924B19-0889-4992-89EC-9570E2D90979}">
      <dgm:prSet/>
      <dgm:spPr/>
      <dgm:t>
        <a:bodyPr/>
        <a:lstStyle/>
        <a:p>
          <a:endParaRPr lang="en-US"/>
        </a:p>
      </dgm:t>
    </dgm:pt>
    <dgm:pt modelId="{ECB32F53-EC92-461E-939F-AA344EFFF1FA}" type="sibTrans" cxnId="{D5924B19-0889-4992-89EC-9570E2D90979}">
      <dgm:prSet/>
      <dgm:spPr/>
      <dgm:t>
        <a:bodyPr/>
        <a:lstStyle/>
        <a:p>
          <a:endParaRPr lang="en-US"/>
        </a:p>
      </dgm:t>
    </dgm:pt>
    <dgm:pt modelId="{396DE061-1DB3-4768-9A48-A4C221AF812B}" type="pres">
      <dgm:prSet presAssocID="{5DC71C77-5615-4501-8AB9-6403CAE1B573}" presName="root" presStyleCnt="0">
        <dgm:presLayoutVars>
          <dgm:dir/>
          <dgm:resizeHandles val="exact"/>
        </dgm:presLayoutVars>
      </dgm:prSet>
      <dgm:spPr/>
    </dgm:pt>
    <dgm:pt modelId="{48A89E26-3EAC-47FC-9E9D-066AED789630}" type="pres">
      <dgm:prSet presAssocID="{60739298-C99D-4867-AB7D-F223A6CA9E47}" presName="compNode" presStyleCnt="0"/>
      <dgm:spPr/>
    </dgm:pt>
    <dgm:pt modelId="{2F294FE4-6DBA-442D-B097-BF62CFE1C922}" type="pres">
      <dgm:prSet presAssocID="{60739298-C99D-4867-AB7D-F223A6CA9E47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5511AEA-85B3-49A3-B79A-5EEAFFA597DC}" type="pres">
      <dgm:prSet presAssocID="{60739298-C99D-4867-AB7D-F223A6CA9E47}" presName="spaceRect" presStyleCnt="0"/>
      <dgm:spPr/>
    </dgm:pt>
    <dgm:pt modelId="{C9BB21AD-C66C-411D-8701-EE9F88153103}" type="pres">
      <dgm:prSet presAssocID="{60739298-C99D-4867-AB7D-F223A6CA9E47}" presName="textRect" presStyleLbl="revTx" presStyleIdx="0" presStyleCnt="8">
        <dgm:presLayoutVars>
          <dgm:chMax val="1"/>
          <dgm:chPref val="1"/>
        </dgm:presLayoutVars>
      </dgm:prSet>
      <dgm:spPr/>
    </dgm:pt>
    <dgm:pt modelId="{0E7B643B-EF8D-4386-AD48-FBC6EE736834}" type="pres">
      <dgm:prSet presAssocID="{B281CDF4-19A3-4F29-9DEF-2FD5D24F3392}" presName="sibTrans" presStyleCnt="0"/>
      <dgm:spPr/>
    </dgm:pt>
    <dgm:pt modelId="{E650E1D5-3F6E-48D3-8642-7901ACEFE71E}" type="pres">
      <dgm:prSet presAssocID="{48587353-5556-4ED2-A021-797A363E7D1A}" presName="compNode" presStyleCnt="0"/>
      <dgm:spPr/>
    </dgm:pt>
    <dgm:pt modelId="{686A2C96-531A-46BE-869B-8CA32CDE4826}" type="pres">
      <dgm:prSet presAssocID="{48587353-5556-4ED2-A021-797A363E7D1A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8245DEE-8261-448A-8509-0880CF998889}" type="pres">
      <dgm:prSet presAssocID="{48587353-5556-4ED2-A021-797A363E7D1A}" presName="spaceRect" presStyleCnt="0"/>
      <dgm:spPr/>
    </dgm:pt>
    <dgm:pt modelId="{1A8A3A3C-2EFD-4271-80F5-7FA6DD93EC05}" type="pres">
      <dgm:prSet presAssocID="{48587353-5556-4ED2-A021-797A363E7D1A}" presName="textRect" presStyleLbl="revTx" presStyleIdx="1" presStyleCnt="8">
        <dgm:presLayoutVars>
          <dgm:chMax val="1"/>
          <dgm:chPref val="1"/>
        </dgm:presLayoutVars>
      </dgm:prSet>
      <dgm:spPr/>
    </dgm:pt>
    <dgm:pt modelId="{6D3BB73A-F737-46FE-9636-3B07B350ECEF}" type="pres">
      <dgm:prSet presAssocID="{C2261FD2-FE29-4E1A-9A44-91EF388EF428}" presName="sibTrans" presStyleCnt="0"/>
      <dgm:spPr/>
    </dgm:pt>
    <dgm:pt modelId="{25167360-329C-4B4A-9FE4-7C00D0D5B16D}" type="pres">
      <dgm:prSet presAssocID="{BECC2DE3-D5EE-404B-9307-8FECA407ED26}" presName="compNode" presStyleCnt="0"/>
      <dgm:spPr/>
    </dgm:pt>
    <dgm:pt modelId="{E20B9194-17D6-453B-81BB-01B39F3B7826}" type="pres">
      <dgm:prSet presAssocID="{BECC2DE3-D5EE-404B-9307-8FECA407ED2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DEDD9794-8FE0-4BD4-808E-D77C652035D3}" type="pres">
      <dgm:prSet presAssocID="{BECC2DE3-D5EE-404B-9307-8FECA407ED26}" presName="spaceRect" presStyleCnt="0"/>
      <dgm:spPr/>
    </dgm:pt>
    <dgm:pt modelId="{A51B3610-3D0F-49F1-BC67-6EACAAD0AF97}" type="pres">
      <dgm:prSet presAssocID="{BECC2DE3-D5EE-404B-9307-8FECA407ED26}" presName="textRect" presStyleLbl="revTx" presStyleIdx="2" presStyleCnt="8">
        <dgm:presLayoutVars>
          <dgm:chMax val="1"/>
          <dgm:chPref val="1"/>
        </dgm:presLayoutVars>
      </dgm:prSet>
      <dgm:spPr/>
    </dgm:pt>
    <dgm:pt modelId="{96ACB92F-45D9-4C96-A639-B739D4C1C191}" type="pres">
      <dgm:prSet presAssocID="{F099D613-C758-4CD1-9576-69EF904FDED6}" presName="sibTrans" presStyleCnt="0"/>
      <dgm:spPr/>
    </dgm:pt>
    <dgm:pt modelId="{4424E6AC-DA26-458D-97C3-7FBF0EA4F1ED}" type="pres">
      <dgm:prSet presAssocID="{33FB32E4-F044-408E-A9B6-9824A63BF4C7}" presName="compNode" presStyleCnt="0"/>
      <dgm:spPr/>
    </dgm:pt>
    <dgm:pt modelId="{B05E9D17-DDD2-4496-A860-900B7F05F61B}" type="pres">
      <dgm:prSet presAssocID="{33FB32E4-F044-408E-A9B6-9824A63BF4C7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D98A405-F5AF-4045-B98A-79754581DF96}" type="pres">
      <dgm:prSet presAssocID="{33FB32E4-F044-408E-A9B6-9824A63BF4C7}" presName="spaceRect" presStyleCnt="0"/>
      <dgm:spPr/>
    </dgm:pt>
    <dgm:pt modelId="{81C220BF-AA43-4A20-B3FD-569C6AA53FD8}" type="pres">
      <dgm:prSet presAssocID="{33FB32E4-F044-408E-A9B6-9824A63BF4C7}" presName="textRect" presStyleLbl="revTx" presStyleIdx="3" presStyleCnt="8">
        <dgm:presLayoutVars>
          <dgm:chMax val="1"/>
          <dgm:chPref val="1"/>
        </dgm:presLayoutVars>
      </dgm:prSet>
      <dgm:spPr/>
    </dgm:pt>
    <dgm:pt modelId="{87E86082-F9B2-4A58-8599-EC4F114348C0}" type="pres">
      <dgm:prSet presAssocID="{3781A217-0F90-444C-A7E2-F48042D7A675}" presName="sibTrans" presStyleCnt="0"/>
      <dgm:spPr/>
    </dgm:pt>
    <dgm:pt modelId="{9CA708C1-610D-4105-8AB5-22C94F8D4367}" type="pres">
      <dgm:prSet presAssocID="{7925855A-B4B3-4168-B252-A5C8549003E4}" presName="compNode" presStyleCnt="0"/>
      <dgm:spPr/>
    </dgm:pt>
    <dgm:pt modelId="{FA074B99-80AC-4669-B1C2-89F7DBA82298}" type="pres">
      <dgm:prSet presAssocID="{7925855A-B4B3-4168-B252-A5C8549003E4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F5003FD2-1BF9-4AED-AEE9-14EDA5C56B60}" type="pres">
      <dgm:prSet presAssocID="{7925855A-B4B3-4168-B252-A5C8549003E4}" presName="spaceRect" presStyleCnt="0"/>
      <dgm:spPr/>
    </dgm:pt>
    <dgm:pt modelId="{C31223E2-BCBD-4A41-87E6-C8F6F22C3A62}" type="pres">
      <dgm:prSet presAssocID="{7925855A-B4B3-4168-B252-A5C8549003E4}" presName="textRect" presStyleLbl="revTx" presStyleIdx="4" presStyleCnt="8">
        <dgm:presLayoutVars>
          <dgm:chMax val="1"/>
          <dgm:chPref val="1"/>
        </dgm:presLayoutVars>
      </dgm:prSet>
      <dgm:spPr/>
    </dgm:pt>
    <dgm:pt modelId="{709D84A5-47FA-4DB3-9D5D-6D4593E506E8}" type="pres">
      <dgm:prSet presAssocID="{05623D7A-A55A-4B34-9B3D-245F3EE74C05}" presName="sibTrans" presStyleCnt="0"/>
      <dgm:spPr/>
    </dgm:pt>
    <dgm:pt modelId="{D144727D-E34F-49F3-88B5-EBADBAE042C2}" type="pres">
      <dgm:prSet presAssocID="{8E46BE3E-BC45-4F07-908A-A233E118A5E0}" presName="compNode" presStyleCnt="0"/>
      <dgm:spPr/>
    </dgm:pt>
    <dgm:pt modelId="{69FE398E-115C-4FBB-9A86-65718F4E6CDA}" type="pres">
      <dgm:prSet presAssocID="{8E46BE3E-BC45-4F07-908A-A233E118A5E0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1599705-3B60-46E7-A155-7BEB447CEAF0}" type="pres">
      <dgm:prSet presAssocID="{8E46BE3E-BC45-4F07-908A-A233E118A5E0}" presName="spaceRect" presStyleCnt="0"/>
      <dgm:spPr/>
    </dgm:pt>
    <dgm:pt modelId="{B0FF6131-9E4D-49B7-AF7A-19AAFAFBAFA8}" type="pres">
      <dgm:prSet presAssocID="{8E46BE3E-BC45-4F07-908A-A233E118A5E0}" presName="textRect" presStyleLbl="revTx" presStyleIdx="5" presStyleCnt="8">
        <dgm:presLayoutVars>
          <dgm:chMax val="1"/>
          <dgm:chPref val="1"/>
        </dgm:presLayoutVars>
      </dgm:prSet>
      <dgm:spPr/>
    </dgm:pt>
    <dgm:pt modelId="{CD06BF4A-8B32-4DC4-A8E7-F65DF746B944}" type="pres">
      <dgm:prSet presAssocID="{B73619D3-F4CB-4AF7-95C0-8F84E7D38AC1}" presName="sibTrans" presStyleCnt="0"/>
      <dgm:spPr/>
    </dgm:pt>
    <dgm:pt modelId="{3FE727FD-B0AD-4518-A2A4-9B5E2B9E62F8}" type="pres">
      <dgm:prSet presAssocID="{AEDC3AB5-44C1-4208-BE33-E0950BB7B9B9}" presName="compNode" presStyleCnt="0"/>
      <dgm:spPr/>
    </dgm:pt>
    <dgm:pt modelId="{B3E0A782-0472-4DB4-B31C-39245DE6E198}" type="pres">
      <dgm:prSet presAssocID="{AEDC3AB5-44C1-4208-BE33-E0950BB7B9B9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CD70C0-DC5A-4C77-9EEA-BEB0B294C23E}" type="pres">
      <dgm:prSet presAssocID="{AEDC3AB5-44C1-4208-BE33-E0950BB7B9B9}" presName="spaceRect" presStyleCnt="0"/>
      <dgm:spPr/>
    </dgm:pt>
    <dgm:pt modelId="{62E152CF-772E-4B8C-9DB2-B97B38F274EB}" type="pres">
      <dgm:prSet presAssocID="{AEDC3AB5-44C1-4208-BE33-E0950BB7B9B9}" presName="textRect" presStyleLbl="revTx" presStyleIdx="6" presStyleCnt="8">
        <dgm:presLayoutVars>
          <dgm:chMax val="1"/>
          <dgm:chPref val="1"/>
        </dgm:presLayoutVars>
      </dgm:prSet>
      <dgm:spPr/>
    </dgm:pt>
    <dgm:pt modelId="{F8C55DEB-0018-4F21-9F41-C29E13AFA591}" type="pres">
      <dgm:prSet presAssocID="{20683B19-02DC-45C1-9BF4-CA7E2D5B4830}" presName="sibTrans" presStyleCnt="0"/>
      <dgm:spPr/>
    </dgm:pt>
    <dgm:pt modelId="{D0814EC4-27C3-48E3-975C-B05B85CE4B79}" type="pres">
      <dgm:prSet presAssocID="{E0E2F624-CD3D-47AE-993A-017F6A0ABBAE}" presName="compNode" presStyleCnt="0"/>
      <dgm:spPr/>
    </dgm:pt>
    <dgm:pt modelId="{905903F4-9B62-4FC8-A32F-FEC6F2E5BD0D}" type="pres">
      <dgm:prSet presAssocID="{E0E2F624-CD3D-47AE-993A-017F6A0ABBAE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91BC66D-1D0F-44FF-897F-E807198DFF69}" type="pres">
      <dgm:prSet presAssocID="{E0E2F624-CD3D-47AE-993A-017F6A0ABBAE}" presName="spaceRect" presStyleCnt="0"/>
      <dgm:spPr/>
    </dgm:pt>
    <dgm:pt modelId="{561149F1-EA1D-4FC2-8519-8BD387309A45}" type="pres">
      <dgm:prSet presAssocID="{E0E2F624-CD3D-47AE-993A-017F6A0ABBAE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FA5DE914-488F-44E0-BA39-16F61916BDE5}" type="presOf" srcId="{5DC71C77-5615-4501-8AB9-6403CAE1B573}" destId="{396DE061-1DB3-4768-9A48-A4C221AF812B}" srcOrd="0" destOrd="0" presId="urn:microsoft.com/office/officeart/2018/2/layout/IconLabelList"/>
    <dgm:cxn modelId="{D5924B19-0889-4992-89EC-9570E2D90979}" srcId="{5DC71C77-5615-4501-8AB9-6403CAE1B573}" destId="{E0E2F624-CD3D-47AE-993A-017F6A0ABBAE}" srcOrd="7" destOrd="0" parTransId="{C8ADCA9C-2E21-49F2-986E-81CF9697982B}" sibTransId="{ECB32F53-EC92-461E-939F-AA344EFFF1FA}"/>
    <dgm:cxn modelId="{516D6E5F-5C08-4D8D-ABA9-E331DE9FF3FB}" srcId="{5DC71C77-5615-4501-8AB9-6403CAE1B573}" destId="{33FB32E4-F044-408E-A9B6-9824A63BF4C7}" srcOrd="3" destOrd="0" parTransId="{6CAFFC32-764B-480F-84D4-DE9F902AC96E}" sibTransId="{3781A217-0F90-444C-A7E2-F48042D7A675}"/>
    <dgm:cxn modelId="{2D3E4165-3091-4177-82D6-78E95C1E1C6A}" type="presOf" srcId="{AEDC3AB5-44C1-4208-BE33-E0950BB7B9B9}" destId="{62E152CF-772E-4B8C-9DB2-B97B38F274EB}" srcOrd="0" destOrd="0" presId="urn:microsoft.com/office/officeart/2018/2/layout/IconLabelList"/>
    <dgm:cxn modelId="{64B64967-6B1E-42C1-AD2D-59CC39648A65}" type="presOf" srcId="{60739298-C99D-4867-AB7D-F223A6CA9E47}" destId="{C9BB21AD-C66C-411D-8701-EE9F88153103}" srcOrd="0" destOrd="0" presId="urn:microsoft.com/office/officeart/2018/2/layout/IconLabelList"/>
    <dgm:cxn modelId="{D50F136D-93AB-4E10-AE24-2814D0A69113}" srcId="{5DC71C77-5615-4501-8AB9-6403CAE1B573}" destId="{8E46BE3E-BC45-4F07-908A-A233E118A5E0}" srcOrd="5" destOrd="0" parTransId="{FF92F6C3-42FF-4E15-B025-DD454512207C}" sibTransId="{B73619D3-F4CB-4AF7-95C0-8F84E7D38AC1}"/>
    <dgm:cxn modelId="{882C8C54-5AD1-4739-866B-90F076171228}" srcId="{5DC71C77-5615-4501-8AB9-6403CAE1B573}" destId="{AEDC3AB5-44C1-4208-BE33-E0950BB7B9B9}" srcOrd="6" destOrd="0" parTransId="{96E86B5D-5207-400E-B84B-C7858D3F2D64}" sibTransId="{20683B19-02DC-45C1-9BF4-CA7E2D5B4830}"/>
    <dgm:cxn modelId="{4C560E78-B256-43CD-AFDF-B9F5783CC4DF}" type="presOf" srcId="{48587353-5556-4ED2-A021-797A363E7D1A}" destId="{1A8A3A3C-2EFD-4271-80F5-7FA6DD93EC05}" srcOrd="0" destOrd="0" presId="urn:microsoft.com/office/officeart/2018/2/layout/IconLabelList"/>
    <dgm:cxn modelId="{84614F90-FD23-4236-88DE-04C7F3C2783B}" type="presOf" srcId="{33FB32E4-F044-408E-A9B6-9824A63BF4C7}" destId="{81C220BF-AA43-4A20-B3FD-569C6AA53FD8}" srcOrd="0" destOrd="0" presId="urn:microsoft.com/office/officeart/2018/2/layout/IconLabelList"/>
    <dgm:cxn modelId="{90B4EC94-31BA-449F-92A6-E95652B3E682}" type="presOf" srcId="{7925855A-B4B3-4168-B252-A5C8549003E4}" destId="{C31223E2-BCBD-4A41-87E6-C8F6F22C3A62}" srcOrd="0" destOrd="0" presId="urn:microsoft.com/office/officeart/2018/2/layout/IconLabelList"/>
    <dgm:cxn modelId="{205A5DBC-9E9C-4867-9753-E7E2DC3700B6}" type="presOf" srcId="{E0E2F624-CD3D-47AE-993A-017F6A0ABBAE}" destId="{561149F1-EA1D-4FC2-8519-8BD387309A45}" srcOrd="0" destOrd="0" presId="urn:microsoft.com/office/officeart/2018/2/layout/IconLabelList"/>
    <dgm:cxn modelId="{FCBCF4C4-C807-4F69-882B-3C38F996B04D}" type="presOf" srcId="{8E46BE3E-BC45-4F07-908A-A233E118A5E0}" destId="{B0FF6131-9E4D-49B7-AF7A-19AAFAFBAFA8}" srcOrd="0" destOrd="0" presId="urn:microsoft.com/office/officeart/2018/2/layout/IconLabelList"/>
    <dgm:cxn modelId="{E1753FC9-2AAC-4F9B-B342-22189535AA8E}" srcId="{5DC71C77-5615-4501-8AB9-6403CAE1B573}" destId="{60739298-C99D-4867-AB7D-F223A6CA9E47}" srcOrd="0" destOrd="0" parTransId="{AB3188DF-0CFC-4BCA-BF44-FAEEDB44E8C8}" sibTransId="{B281CDF4-19A3-4F29-9DEF-2FD5D24F3392}"/>
    <dgm:cxn modelId="{F438B3CC-4DB5-45F7-9831-20EA6C9DC001}" type="presOf" srcId="{BECC2DE3-D5EE-404B-9307-8FECA407ED26}" destId="{A51B3610-3D0F-49F1-BC67-6EACAAD0AF97}" srcOrd="0" destOrd="0" presId="urn:microsoft.com/office/officeart/2018/2/layout/IconLabelList"/>
    <dgm:cxn modelId="{FE669CDA-AA5C-4F35-A527-62A85B818ACB}" srcId="{5DC71C77-5615-4501-8AB9-6403CAE1B573}" destId="{7925855A-B4B3-4168-B252-A5C8549003E4}" srcOrd="4" destOrd="0" parTransId="{6ECAB3F6-AECA-42C0-83D1-5BC05080001B}" sibTransId="{05623D7A-A55A-4B34-9B3D-245F3EE74C05}"/>
    <dgm:cxn modelId="{B49DECE1-2BA0-4D11-B017-BE452FE7DCAF}" srcId="{5DC71C77-5615-4501-8AB9-6403CAE1B573}" destId="{BECC2DE3-D5EE-404B-9307-8FECA407ED26}" srcOrd="2" destOrd="0" parTransId="{617D9DC7-896A-4165-AFB0-24178353BD85}" sibTransId="{F099D613-C758-4CD1-9576-69EF904FDED6}"/>
    <dgm:cxn modelId="{0E86F1E7-7DBD-41AF-A93C-4E98EF5E0AEA}" srcId="{5DC71C77-5615-4501-8AB9-6403CAE1B573}" destId="{48587353-5556-4ED2-A021-797A363E7D1A}" srcOrd="1" destOrd="0" parTransId="{51F84E77-952F-4FF7-BC4E-DE710C72ED41}" sibTransId="{C2261FD2-FE29-4E1A-9A44-91EF388EF428}"/>
    <dgm:cxn modelId="{E2EC50F9-5493-4599-8B98-3D6E3148E179}" type="presParOf" srcId="{396DE061-1DB3-4768-9A48-A4C221AF812B}" destId="{48A89E26-3EAC-47FC-9E9D-066AED789630}" srcOrd="0" destOrd="0" presId="urn:microsoft.com/office/officeart/2018/2/layout/IconLabelList"/>
    <dgm:cxn modelId="{CBBE05D8-6B0C-4B23-BEB9-F0FA7F43796A}" type="presParOf" srcId="{48A89E26-3EAC-47FC-9E9D-066AED789630}" destId="{2F294FE4-6DBA-442D-B097-BF62CFE1C922}" srcOrd="0" destOrd="0" presId="urn:microsoft.com/office/officeart/2018/2/layout/IconLabelList"/>
    <dgm:cxn modelId="{73C2EED1-885F-46E1-9B7D-CA9B870E3F63}" type="presParOf" srcId="{48A89E26-3EAC-47FC-9E9D-066AED789630}" destId="{15511AEA-85B3-49A3-B79A-5EEAFFA597DC}" srcOrd="1" destOrd="0" presId="urn:microsoft.com/office/officeart/2018/2/layout/IconLabelList"/>
    <dgm:cxn modelId="{0BBD5DA3-C4DD-49AB-8B3C-D6AEB6123044}" type="presParOf" srcId="{48A89E26-3EAC-47FC-9E9D-066AED789630}" destId="{C9BB21AD-C66C-411D-8701-EE9F88153103}" srcOrd="2" destOrd="0" presId="urn:microsoft.com/office/officeart/2018/2/layout/IconLabelList"/>
    <dgm:cxn modelId="{FCB55F35-1165-4A21-B222-9AD3859C1F79}" type="presParOf" srcId="{396DE061-1DB3-4768-9A48-A4C221AF812B}" destId="{0E7B643B-EF8D-4386-AD48-FBC6EE736834}" srcOrd="1" destOrd="0" presId="urn:microsoft.com/office/officeart/2018/2/layout/IconLabelList"/>
    <dgm:cxn modelId="{3A55CBFB-76D9-4BE3-A365-08F5A1F9BFA3}" type="presParOf" srcId="{396DE061-1DB3-4768-9A48-A4C221AF812B}" destId="{E650E1D5-3F6E-48D3-8642-7901ACEFE71E}" srcOrd="2" destOrd="0" presId="urn:microsoft.com/office/officeart/2018/2/layout/IconLabelList"/>
    <dgm:cxn modelId="{D7F48A86-5680-489A-BF30-5EA450445CE4}" type="presParOf" srcId="{E650E1D5-3F6E-48D3-8642-7901ACEFE71E}" destId="{686A2C96-531A-46BE-869B-8CA32CDE4826}" srcOrd="0" destOrd="0" presId="urn:microsoft.com/office/officeart/2018/2/layout/IconLabelList"/>
    <dgm:cxn modelId="{38760E7A-C8E0-4704-9C52-5DDB71D5EA39}" type="presParOf" srcId="{E650E1D5-3F6E-48D3-8642-7901ACEFE71E}" destId="{78245DEE-8261-448A-8509-0880CF998889}" srcOrd="1" destOrd="0" presId="urn:microsoft.com/office/officeart/2018/2/layout/IconLabelList"/>
    <dgm:cxn modelId="{64111C74-BB34-4734-98D2-D06ACE4DAC0D}" type="presParOf" srcId="{E650E1D5-3F6E-48D3-8642-7901ACEFE71E}" destId="{1A8A3A3C-2EFD-4271-80F5-7FA6DD93EC05}" srcOrd="2" destOrd="0" presId="urn:microsoft.com/office/officeart/2018/2/layout/IconLabelList"/>
    <dgm:cxn modelId="{5F0FC575-B7F7-49B2-97D9-AB7CDCD607AE}" type="presParOf" srcId="{396DE061-1DB3-4768-9A48-A4C221AF812B}" destId="{6D3BB73A-F737-46FE-9636-3B07B350ECEF}" srcOrd="3" destOrd="0" presId="urn:microsoft.com/office/officeart/2018/2/layout/IconLabelList"/>
    <dgm:cxn modelId="{B5B6B155-F599-4C24-A022-9659993F243C}" type="presParOf" srcId="{396DE061-1DB3-4768-9A48-A4C221AF812B}" destId="{25167360-329C-4B4A-9FE4-7C00D0D5B16D}" srcOrd="4" destOrd="0" presId="urn:microsoft.com/office/officeart/2018/2/layout/IconLabelList"/>
    <dgm:cxn modelId="{00BC8D52-4215-4718-AFFC-89CCA6C63B18}" type="presParOf" srcId="{25167360-329C-4B4A-9FE4-7C00D0D5B16D}" destId="{E20B9194-17D6-453B-81BB-01B39F3B7826}" srcOrd="0" destOrd="0" presId="urn:microsoft.com/office/officeart/2018/2/layout/IconLabelList"/>
    <dgm:cxn modelId="{AADC4124-AC6C-4FCF-9192-E4418D8B4203}" type="presParOf" srcId="{25167360-329C-4B4A-9FE4-7C00D0D5B16D}" destId="{DEDD9794-8FE0-4BD4-808E-D77C652035D3}" srcOrd="1" destOrd="0" presId="urn:microsoft.com/office/officeart/2018/2/layout/IconLabelList"/>
    <dgm:cxn modelId="{B10AEEB2-A98A-4801-92FA-E949BB41F173}" type="presParOf" srcId="{25167360-329C-4B4A-9FE4-7C00D0D5B16D}" destId="{A51B3610-3D0F-49F1-BC67-6EACAAD0AF97}" srcOrd="2" destOrd="0" presId="urn:microsoft.com/office/officeart/2018/2/layout/IconLabelList"/>
    <dgm:cxn modelId="{966AF91C-D344-4B8B-BE1D-F3008CA019A4}" type="presParOf" srcId="{396DE061-1DB3-4768-9A48-A4C221AF812B}" destId="{96ACB92F-45D9-4C96-A639-B739D4C1C191}" srcOrd="5" destOrd="0" presId="urn:microsoft.com/office/officeart/2018/2/layout/IconLabelList"/>
    <dgm:cxn modelId="{ECAFC14F-7DF0-4135-AE41-0B9C313FC5B4}" type="presParOf" srcId="{396DE061-1DB3-4768-9A48-A4C221AF812B}" destId="{4424E6AC-DA26-458D-97C3-7FBF0EA4F1ED}" srcOrd="6" destOrd="0" presId="urn:microsoft.com/office/officeart/2018/2/layout/IconLabelList"/>
    <dgm:cxn modelId="{2F33459B-0A83-44F4-80CD-E85D0EBF6804}" type="presParOf" srcId="{4424E6AC-DA26-458D-97C3-7FBF0EA4F1ED}" destId="{B05E9D17-DDD2-4496-A860-900B7F05F61B}" srcOrd="0" destOrd="0" presId="urn:microsoft.com/office/officeart/2018/2/layout/IconLabelList"/>
    <dgm:cxn modelId="{70F98621-4155-4CEF-B2A1-40BFB58983C1}" type="presParOf" srcId="{4424E6AC-DA26-458D-97C3-7FBF0EA4F1ED}" destId="{3D98A405-F5AF-4045-B98A-79754581DF96}" srcOrd="1" destOrd="0" presId="urn:microsoft.com/office/officeart/2018/2/layout/IconLabelList"/>
    <dgm:cxn modelId="{2FBD253D-CEA2-4636-866C-025BE586C75D}" type="presParOf" srcId="{4424E6AC-DA26-458D-97C3-7FBF0EA4F1ED}" destId="{81C220BF-AA43-4A20-B3FD-569C6AA53FD8}" srcOrd="2" destOrd="0" presId="urn:microsoft.com/office/officeart/2018/2/layout/IconLabelList"/>
    <dgm:cxn modelId="{4675EC62-4C62-4DDF-B38F-4FC69534E2A6}" type="presParOf" srcId="{396DE061-1DB3-4768-9A48-A4C221AF812B}" destId="{87E86082-F9B2-4A58-8599-EC4F114348C0}" srcOrd="7" destOrd="0" presId="urn:microsoft.com/office/officeart/2018/2/layout/IconLabelList"/>
    <dgm:cxn modelId="{44DBCAA4-4D8F-4807-A8E0-542D0E860BA4}" type="presParOf" srcId="{396DE061-1DB3-4768-9A48-A4C221AF812B}" destId="{9CA708C1-610D-4105-8AB5-22C94F8D4367}" srcOrd="8" destOrd="0" presId="urn:microsoft.com/office/officeart/2018/2/layout/IconLabelList"/>
    <dgm:cxn modelId="{9A264723-F905-44CA-A717-C60210E8CF95}" type="presParOf" srcId="{9CA708C1-610D-4105-8AB5-22C94F8D4367}" destId="{FA074B99-80AC-4669-B1C2-89F7DBA82298}" srcOrd="0" destOrd="0" presId="urn:microsoft.com/office/officeart/2018/2/layout/IconLabelList"/>
    <dgm:cxn modelId="{96374733-7C11-4E13-B23D-35C318CAF006}" type="presParOf" srcId="{9CA708C1-610D-4105-8AB5-22C94F8D4367}" destId="{F5003FD2-1BF9-4AED-AEE9-14EDA5C56B60}" srcOrd="1" destOrd="0" presId="urn:microsoft.com/office/officeart/2018/2/layout/IconLabelList"/>
    <dgm:cxn modelId="{CDAA8A78-89E8-47A6-AAFB-63A08E2C6FDA}" type="presParOf" srcId="{9CA708C1-610D-4105-8AB5-22C94F8D4367}" destId="{C31223E2-BCBD-4A41-87E6-C8F6F22C3A62}" srcOrd="2" destOrd="0" presId="urn:microsoft.com/office/officeart/2018/2/layout/IconLabelList"/>
    <dgm:cxn modelId="{3DB20EDE-6F1A-4DAD-8213-D7D646D8C2BA}" type="presParOf" srcId="{396DE061-1DB3-4768-9A48-A4C221AF812B}" destId="{709D84A5-47FA-4DB3-9D5D-6D4593E506E8}" srcOrd="9" destOrd="0" presId="urn:microsoft.com/office/officeart/2018/2/layout/IconLabelList"/>
    <dgm:cxn modelId="{785CE446-BB8A-4C73-B177-73E24F9AE98F}" type="presParOf" srcId="{396DE061-1DB3-4768-9A48-A4C221AF812B}" destId="{D144727D-E34F-49F3-88B5-EBADBAE042C2}" srcOrd="10" destOrd="0" presId="urn:microsoft.com/office/officeart/2018/2/layout/IconLabelList"/>
    <dgm:cxn modelId="{5A4BD19A-9D15-4B8F-A94A-34CCE2B0C1B9}" type="presParOf" srcId="{D144727D-E34F-49F3-88B5-EBADBAE042C2}" destId="{69FE398E-115C-4FBB-9A86-65718F4E6CDA}" srcOrd="0" destOrd="0" presId="urn:microsoft.com/office/officeart/2018/2/layout/IconLabelList"/>
    <dgm:cxn modelId="{2910228D-840D-4808-98CC-7017BED1437F}" type="presParOf" srcId="{D144727D-E34F-49F3-88B5-EBADBAE042C2}" destId="{A1599705-3B60-46E7-A155-7BEB447CEAF0}" srcOrd="1" destOrd="0" presId="urn:microsoft.com/office/officeart/2018/2/layout/IconLabelList"/>
    <dgm:cxn modelId="{BDF2C9AD-4B57-442E-9358-85DB9DDFCEDF}" type="presParOf" srcId="{D144727D-E34F-49F3-88B5-EBADBAE042C2}" destId="{B0FF6131-9E4D-49B7-AF7A-19AAFAFBAFA8}" srcOrd="2" destOrd="0" presId="urn:microsoft.com/office/officeart/2018/2/layout/IconLabelList"/>
    <dgm:cxn modelId="{285B29D5-C611-4DC5-9E02-CEFADF694575}" type="presParOf" srcId="{396DE061-1DB3-4768-9A48-A4C221AF812B}" destId="{CD06BF4A-8B32-4DC4-A8E7-F65DF746B944}" srcOrd="11" destOrd="0" presId="urn:microsoft.com/office/officeart/2018/2/layout/IconLabelList"/>
    <dgm:cxn modelId="{C785C804-60E5-4665-B02D-3EEC90D9A06F}" type="presParOf" srcId="{396DE061-1DB3-4768-9A48-A4C221AF812B}" destId="{3FE727FD-B0AD-4518-A2A4-9B5E2B9E62F8}" srcOrd="12" destOrd="0" presId="urn:microsoft.com/office/officeart/2018/2/layout/IconLabelList"/>
    <dgm:cxn modelId="{AB57B844-12DB-4AEE-8067-D7A85BDFE1D2}" type="presParOf" srcId="{3FE727FD-B0AD-4518-A2A4-9B5E2B9E62F8}" destId="{B3E0A782-0472-4DB4-B31C-39245DE6E198}" srcOrd="0" destOrd="0" presId="urn:microsoft.com/office/officeart/2018/2/layout/IconLabelList"/>
    <dgm:cxn modelId="{2ECE0AC9-37DA-4073-BF3C-93D3AC75186B}" type="presParOf" srcId="{3FE727FD-B0AD-4518-A2A4-9B5E2B9E62F8}" destId="{50CD70C0-DC5A-4C77-9EEA-BEB0B294C23E}" srcOrd="1" destOrd="0" presId="urn:microsoft.com/office/officeart/2018/2/layout/IconLabelList"/>
    <dgm:cxn modelId="{4B4BA76A-E8A8-403E-901A-E5C8C75B9D51}" type="presParOf" srcId="{3FE727FD-B0AD-4518-A2A4-9B5E2B9E62F8}" destId="{62E152CF-772E-4B8C-9DB2-B97B38F274EB}" srcOrd="2" destOrd="0" presId="urn:microsoft.com/office/officeart/2018/2/layout/IconLabelList"/>
    <dgm:cxn modelId="{B83FB0A5-D06A-4C17-902C-9915C394053B}" type="presParOf" srcId="{396DE061-1DB3-4768-9A48-A4C221AF812B}" destId="{F8C55DEB-0018-4F21-9F41-C29E13AFA591}" srcOrd="13" destOrd="0" presId="urn:microsoft.com/office/officeart/2018/2/layout/IconLabelList"/>
    <dgm:cxn modelId="{CD6A6E5C-F3CD-482F-95A1-F87DB7663934}" type="presParOf" srcId="{396DE061-1DB3-4768-9A48-A4C221AF812B}" destId="{D0814EC4-27C3-48E3-975C-B05B85CE4B79}" srcOrd="14" destOrd="0" presId="urn:microsoft.com/office/officeart/2018/2/layout/IconLabelList"/>
    <dgm:cxn modelId="{A40F3509-B42C-4846-ADD0-2C255806678F}" type="presParOf" srcId="{D0814EC4-27C3-48E3-975C-B05B85CE4B79}" destId="{905903F4-9B62-4FC8-A32F-FEC6F2E5BD0D}" srcOrd="0" destOrd="0" presId="urn:microsoft.com/office/officeart/2018/2/layout/IconLabelList"/>
    <dgm:cxn modelId="{93315A67-0E89-4198-BE32-1A14986B1EEE}" type="presParOf" srcId="{D0814EC4-27C3-48E3-975C-B05B85CE4B79}" destId="{A91BC66D-1D0F-44FF-897F-E807198DFF69}" srcOrd="1" destOrd="0" presId="urn:microsoft.com/office/officeart/2018/2/layout/IconLabelList"/>
    <dgm:cxn modelId="{C9D38F92-44A2-4711-A3E8-02C2089C1250}" type="presParOf" srcId="{D0814EC4-27C3-48E3-975C-B05B85CE4B79}" destId="{561149F1-EA1D-4FC2-8519-8BD387309A4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94FE4-6DBA-442D-B097-BF62CFE1C922}">
      <dsp:nvSpPr>
        <dsp:cNvPr id="0" name=""/>
        <dsp:cNvSpPr/>
      </dsp:nvSpPr>
      <dsp:spPr>
        <a:xfrm>
          <a:off x="367154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B21AD-C66C-411D-8701-EE9F88153103}">
      <dsp:nvSpPr>
        <dsp:cNvPr id="0" name=""/>
        <dsp:cNvSpPr/>
      </dsp:nvSpPr>
      <dsp:spPr>
        <a:xfrm>
          <a:off x="738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1. Cryptography &amp; Security</a:t>
          </a:r>
          <a:endParaRPr lang="en-US" sz="1100" kern="1200"/>
        </a:p>
      </dsp:txBody>
      <dsp:txXfrm>
        <a:off x="738" y="1147138"/>
        <a:ext cx="1332421" cy="532968"/>
      </dsp:txXfrm>
    </dsp:sp>
    <dsp:sp modelId="{686A2C96-531A-46BE-869B-8CA32CDE4826}">
      <dsp:nvSpPr>
        <dsp:cNvPr id="0" name=""/>
        <dsp:cNvSpPr/>
      </dsp:nvSpPr>
      <dsp:spPr>
        <a:xfrm>
          <a:off x="1932749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A3A3C-2EFD-4271-80F5-7FA6DD93EC05}">
      <dsp:nvSpPr>
        <dsp:cNvPr id="0" name=""/>
        <dsp:cNvSpPr/>
      </dsp:nvSpPr>
      <dsp:spPr>
        <a:xfrm>
          <a:off x="1566333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Breaking classical encryption and developing quantum-safe cryptographic algorithms.</a:t>
          </a:r>
          <a:endParaRPr lang="en-US" sz="1100" kern="1200"/>
        </a:p>
      </dsp:txBody>
      <dsp:txXfrm>
        <a:off x="1566333" y="1147138"/>
        <a:ext cx="1332421" cy="532968"/>
      </dsp:txXfrm>
    </dsp:sp>
    <dsp:sp modelId="{E20B9194-17D6-453B-81BB-01B39F3B7826}">
      <dsp:nvSpPr>
        <dsp:cNvPr id="0" name=""/>
        <dsp:cNvSpPr/>
      </dsp:nvSpPr>
      <dsp:spPr>
        <a:xfrm>
          <a:off x="3498345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B3610-3D0F-49F1-BC67-6EACAAD0AF97}">
      <dsp:nvSpPr>
        <dsp:cNvPr id="0" name=""/>
        <dsp:cNvSpPr/>
      </dsp:nvSpPr>
      <dsp:spPr>
        <a:xfrm>
          <a:off x="3131929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2. Drug Discovery &amp; Molecular Simulation</a:t>
          </a:r>
          <a:endParaRPr lang="en-US" sz="1100" kern="1200" dirty="0"/>
        </a:p>
      </dsp:txBody>
      <dsp:txXfrm>
        <a:off x="3131929" y="1147138"/>
        <a:ext cx="1332421" cy="532968"/>
      </dsp:txXfrm>
    </dsp:sp>
    <dsp:sp modelId="{B05E9D17-DDD2-4496-A860-900B7F05F61B}">
      <dsp:nvSpPr>
        <dsp:cNvPr id="0" name=""/>
        <dsp:cNvSpPr/>
      </dsp:nvSpPr>
      <dsp:spPr>
        <a:xfrm>
          <a:off x="5063941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220BF-AA43-4A20-B3FD-569C6AA53FD8}">
      <dsp:nvSpPr>
        <dsp:cNvPr id="0" name=""/>
        <dsp:cNvSpPr/>
      </dsp:nvSpPr>
      <dsp:spPr>
        <a:xfrm>
          <a:off x="4697525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Simulates molecules at the quantum level to accelerate new medicines and material design.</a:t>
          </a:r>
          <a:endParaRPr lang="en-US" sz="1100" kern="1200"/>
        </a:p>
      </dsp:txBody>
      <dsp:txXfrm>
        <a:off x="4697525" y="1147138"/>
        <a:ext cx="1332421" cy="532968"/>
      </dsp:txXfrm>
    </dsp:sp>
    <dsp:sp modelId="{FA074B99-80AC-4669-B1C2-89F7DBA82298}">
      <dsp:nvSpPr>
        <dsp:cNvPr id="0" name=""/>
        <dsp:cNvSpPr/>
      </dsp:nvSpPr>
      <dsp:spPr>
        <a:xfrm>
          <a:off x="367154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223E2-BCBD-4A41-87E6-C8F6F22C3A62}">
      <dsp:nvSpPr>
        <dsp:cNvPr id="0" name=""/>
        <dsp:cNvSpPr/>
      </dsp:nvSpPr>
      <dsp:spPr>
        <a:xfrm>
          <a:off x="738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3. Optimization Problems</a:t>
          </a:r>
          <a:endParaRPr lang="en-US" sz="1100" kern="1200"/>
        </a:p>
      </dsp:txBody>
      <dsp:txXfrm>
        <a:off x="738" y="2834401"/>
        <a:ext cx="1332421" cy="532968"/>
      </dsp:txXfrm>
    </dsp:sp>
    <dsp:sp modelId="{69FE398E-115C-4FBB-9A86-65718F4E6CDA}">
      <dsp:nvSpPr>
        <dsp:cNvPr id="0" name=""/>
        <dsp:cNvSpPr/>
      </dsp:nvSpPr>
      <dsp:spPr>
        <a:xfrm>
          <a:off x="1932749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F6131-9E4D-49B7-AF7A-19AAFAFBAFA8}">
      <dsp:nvSpPr>
        <dsp:cNvPr id="0" name=""/>
        <dsp:cNvSpPr/>
      </dsp:nvSpPr>
      <dsp:spPr>
        <a:xfrm>
          <a:off x="1566333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Solves complex optimization tasks in logistics, supply chain, finance, and energy systems.</a:t>
          </a:r>
          <a:endParaRPr lang="en-US" sz="1100" kern="1200"/>
        </a:p>
      </dsp:txBody>
      <dsp:txXfrm>
        <a:off x="1566333" y="2834401"/>
        <a:ext cx="1332421" cy="532968"/>
      </dsp:txXfrm>
    </dsp:sp>
    <dsp:sp modelId="{B3E0A782-0472-4DB4-B31C-39245DE6E198}">
      <dsp:nvSpPr>
        <dsp:cNvPr id="0" name=""/>
        <dsp:cNvSpPr/>
      </dsp:nvSpPr>
      <dsp:spPr>
        <a:xfrm>
          <a:off x="3498345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152CF-772E-4B8C-9DB2-B97B38F274EB}">
      <dsp:nvSpPr>
        <dsp:cNvPr id="0" name=""/>
        <dsp:cNvSpPr/>
      </dsp:nvSpPr>
      <dsp:spPr>
        <a:xfrm>
          <a:off x="3131929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4. Machine Learning &amp; AI Acceleration</a:t>
          </a:r>
          <a:endParaRPr lang="en-US" sz="1100" kern="1200"/>
        </a:p>
      </dsp:txBody>
      <dsp:txXfrm>
        <a:off x="3131929" y="2834401"/>
        <a:ext cx="1332421" cy="532968"/>
      </dsp:txXfrm>
    </dsp:sp>
    <dsp:sp modelId="{905903F4-9B62-4FC8-A32F-FEC6F2E5BD0D}">
      <dsp:nvSpPr>
        <dsp:cNvPr id="0" name=""/>
        <dsp:cNvSpPr/>
      </dsp:nvSpPr>
      <dsp:spPr>
        <a:xfrm>
          <a:off x="5063941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149F1-EA1D-4FC2-8519-8BD387309A45}">
      <dsp:nvSpPr>
        <dsp:cNvPr id="0" name=""/>
        <dsp:cNvSpPr/>
      </dsp:nvSpPr>
      <dsp:spPr>
        <a:xfrm>
          <a:off x="4697525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Quantum ML algorithms can process high-dimensional data faster than classical models.</a:t>
          </a:r>
          <a:endParaRPr lang="en-US" sz="1100" kern="1200"/>
        </a:p>
      </dsp:txBody>
      <dsp:txXfrm>
        <a:off x="4697525" y="2834401"/>
        <a:ext cx="1332421" cy="53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34BFB-A512-4855-9B3B-F9C18B6926F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9C555-98F8-466F-B7E0-E2480C17F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0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9C555-98F8-466F-B7E0-E2480C17FF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70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F85A-1EEE-2F8C-A5F8-F0D1D71A4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D933-0E4A-5F1A-B3A2-92C8E2C25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C9AE4-C591-4CA7-0469-033594D8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AF70A-0D54-3551-0459-B0C40BE5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3EFFA-497E-984D-BEB8-B594FE56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3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3869-487C-B38F-7D36-46B105E1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2C39-AD4C-C8BD-E60A-001E4D6E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2D5C3-2862-A494-3013-C08578EC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4D1F-BEBA-48EC-9B03-E164166B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11AE-8802-9711-131B-D0D51E66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7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7A7A-6520-2F1E-3FC7-1EA0B961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E4659-B285-C425-DFC3-30533D217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6E7C4-411A-1673-F9F0-4BAADC98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47BB-EC18-B972-78D6-CABE2EBB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2E7BA-4419-43C9-61A0-BB065967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19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A4FC-7C3E-94E2-0640-2D03788E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E1D8-036E-27BE-15BC-AA4DADE2F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3A975-300A-799C-0A87-F456AA7CF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CC43-BAD2-4527-5D46-2F40F837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42514-76A3-8DCC-A16C-8F9A95A1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1819D-A990-FCC9-60B0-8B4ECD80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1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D775-AE9A-BC45-6EFC-064BE97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031BF-D714-49D8-3402-0A28893D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F8F0-DA60-E19D-0E40-4EFA8F4E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688A4-543B-C70E-1CC1-C3CD8A6BF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B97D-2706-27C8-5479-2F413635F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BE23-D448-D035-8B5A-4AF9849F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28E14-064D-C408-0607-AC69F3CA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CB7CA-B249-6E9D-D43C-CA3DE3BD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2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8928-7359-8813-C750-B9738AB9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5763C-A130-9828-4D9E-411A8A23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264E4-B3C4-18A3-86FE-D5DDB21B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687FC-D593-9A01-BAA6-A29070D3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73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9A9B-7B33-FC13-5CDD-6FEC6378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37037-5C19-5CFB-6604-4B8DE8A7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51F7E-EE9E-99FA-B8A9-8F1F54F7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9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AE54-9E1C-9090-C619-86EA5309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BE99D-8672-E545-BF72-845C9E6F4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BB24C-54EF-CCBC-16D1-39E9B3FCA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CFE97-4D0E-3436-76A5-CCE8F736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E771F-015F-AE92-9E2D-925BC8EF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05A25-F099-2FFB-C6B2-28BEADFE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1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1584-AF33-BA9F-E6A6-74291DE6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6CCF9-3E2D-63E8-3D3F-7EA4C714D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B6FE1-1404-75D5-4750-ADADC02E4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56FFE-C168-9989-62E7-E3BC6C15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882AA-58B8-CBFD-29E3-5272A13B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4EED0-257A-2BAA-722B-ED885E16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20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9052-899F-BA55-682B-7B6BAB17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0AD93-4804-F46E-4E00-228858F5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3DEBD-255D-6D27-FA62-AFB3A47B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80C3-0E7B-4246-BCFF-A0807136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AEFC9-D7B6-97E1-C3FC-1ED26F98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5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D91B9-7D2D-C875-5668-CA88AF84B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A5CA1-8EB9-10B1-78B5-06F18790C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CAF8-C83C-6FD2-C0E6-04EF6386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77FB-9C57-4D5D-A9CF-8B9130678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42544-78BA-142C-11C3-3D501539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92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C46BA-6537-D92A-7215-47D5B47C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E1E9D-0704-E775-20CB-4707272BE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2CA9-98BC-F7FD-7755-4F8748A0A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41BF7-1E54-4055-9EAC-6E40E03FC27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CE940-0FED-304F-1024-D4C9EF12B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BC9C-8BFE-F42F-8AD6-263513D78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1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antum Computing Explained: What It Is, How It Works, and Why It's the  Future | by Servifyspheresolutions | SSS Quantum | Medium">
            <a:extLst>
              <a:ext uri="{FF2B5EF4-FFF2-40B4-BE49-F238E27FC236}">
                <a16:creationId xmlns:a16="http://schemas.microsoft.com/office/drawing/2014/main" id="{273B4BBC-9985-C070-037E-037B5AF8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1244" y="-255814"/>
            <a:ext cx="12891911" cy="725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802F27-940C-5291-19A4-81BF1F27258F}"/>
              </a:ext>
            </a:extLst>
          </p:cNvPr>
          <p:cNvSpPr txBox="1"/>
          <p:nvPr/>
        </p:nvSpPr>
        <p:spPr>
          <a:xfrm>
            <a:off x="9412784" y="5121831"/>
            <a:ext cx="415461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 err="1">
                <a:solidFill>
                  <a:schemeClr val="bg1"/>
                </a:solidFill>
              </a:rPr>
              <a:t>Sk</a:t>
            </a:r>
            <a:r>
              <a:rPr lang="en-GB" dirty="0">
                <a:solidFill>
                  <a:schemeClr val="bg1"/>
                </a:solidFill>
              </a:rPr>
              <a:t> Mamun Islam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</a:rPr>
              <a:t>Madhav Dubey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Lovely Professional University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TransOrg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72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A2EBE-4965-CEDF-F8DE-6ED1F8B9FDED}"/>
              </a:ext>
            </a:extLst>
          </p:cNvPr>
          <p:cNvSpPr txBox="1"/>
          <p:nvPr/>
        </p:nvSpPr>
        <p:spPr>
          <a:xfrm>
            <a:off x="65314" y="340989"/>
            <a:ext cx="666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What is Quantum Computing ?</a:t>
            </a:r>
          </a:p>
        </p:txBody>
      </p:sp>
      <p:pic>
        <p:nvPicPr>
          <p:cNvPr id="2050" name="Picture 2" descr="Google's Quantum Computer Solved a Real Algorithm 13,000 Times Faster Than  a Supercomputer">
            <a:extLst>
              <a:ext uri="{FF2B5EF4-FFF2-40B4-BE49-F238E27FC236}">
                <a16:creationId xmlns:a16="http://schemas.microsoft.com/office/drawing/2014/main" id="{73F42962-9053-6688-0ADB-46B3775A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6C882-8502-0A70-8133-E9597400FA4B}"/>
              </a:ext>
            </a:extLst>
          </p:cNvPr>
          <p:cNvSpPr txBox="1"/>
          <p:nvPr/>
        </p:nvSpPr>
        <p:spPr>
          <a:xfrm>
            <a:off x="406400" y="1190172"/>
            <a:ext cx="58492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Quantum computing is an advanced computing paradigm that uses the principles of quantum mechanics to process information exponentially faster than classical computers for certain tasks.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052" name="TextBox 3">
            <a:extLst>
              <a:ext uri="{FF2B5EF4-FFF2-40B4-BE49-F238E27FC236}">
                <a16:creationId xmlns:a16="http://schemas.microsoft.com/office/drawing/2014/main" id="{44647B8B-547D-C7F2-B26F-BCAC63CD3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161673"/>
              </p:ext>
            </p:extLst>
          </p:nvPr>
        </p:nvGraphicFramePr>
        <p:xfrm>
          <a:off x="333828" y="2750457"/>
          <a:ext cx="6030685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254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5" name="Rectangle 9224">
            <a:extLst>
              <a:ext uri="{FF2B5EF4-FFF2-40B4-BE49-F238E27FC236}">
                <a16:creationId xmlns:a16="http://schemas.microsoft.com/office/drawing/2014/main" id="{854ECEBE-9353-406C-9313-02A517A3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227" name="Freeform: Shape 9226">
            <a:extLst>
              <a:ext uri="{FF2B5EF4-FFF2-40B4-BE49-F238E27FC236}">
                <a16:creationId xmlns:a16="http://schemas.microsoft.com/office/drawing/2014/main" id="{86806086-A782-4311-A63B-1A68574D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902" y="-15901"/>
            <a:ext cx="6578337" cy="5814891"/>
          </a:xfrm>
          <a:custGeom>
            <a:avLst/>
            <a:gdLst>
              <a:gd name="connsiteX0" fmla="*/ 1667657 w 6578337"/>
              <a:gd name="connsiteY0" fmla="*/ 0 h 5814891"/>
              <a:gd name="connsiteX1" fmla="*/ 5296215 w 6578337"/>
              <a:gd name="connsiteY1" fmla="*/ 0 h 5814891"/>
              <a:gd name="connsiteX2" fmla="*/ 5354505 w 6578337"/>
              <a:gd name="connsiteY2" fmla="*/ 38974 h 5814891"/>
              <a:gd name="connsiteX3" fmla="*/ 5772761 w 6578337"/>
              <a:gd name="connsiteY3" fmla="*/ 430996 h 5814891"/>
              <a:gd name="connsiteX4" fmla="*/ 6578337 w 6578337"/>
              <a:gd name="connsiteY4" fmla="*/ 2842158 h 5814891"/>
              <a:gd name="connsiteX5" fmla="*/ 6219497 w 6578337"/>
              <a:gd name="connsiteY5" fmla="*/ 3831001 h 5814891"/>
              <a:gd name="connsiteX6" fmla="*/ 5157059 w 6578337"/>
              <a:gd name="connsiteY6" fmla="*/ 4751758 h 5814891"/>
              <a:gd name="connsiteX7" fmla="*/ 4923464 w 6578337"/>
              <a:gd name="connsiteY7" fmla="*/ 4927890 h 5814891"/>
              <a:gd name="connsiteX8" fmla="*/ 3004017 w 6578337"/>
              <a:gd name="connsiteY8" fmla="*/ 5814891 h 5814891"/>
              <a:gd name="connsiteX9" fmla="*/ 475534 w 6578337"/>
              <a:gd name="connsiteY9" fmla="*/ 4373098 h 5814891"/>
              <a:gd name="connsiteX10" fmla="*/ 206071 w 6578337"/>
              <a:gd name="connsiteY10" fmla="*/ 4004246 h 5814891"/>
              <a:gd name="connsiteX11" fmla="*/ 79385 w 6578337"/>
              <a:gd name="connsiteY11" fmla="*/ 3833508 h 5814891"/>
              <a:gd name="connsiteX12" fmla="*/ 0 w 6578337"/>
              <a:gd name="connsiteY12" fmla="*/ 3721725 h 5814891"/>
              <a:gd name="connsiteX13" fmla="*/ 0 w 6578337"/>
              <a:gd name="connsiteY13" fmla="*/ 1581323 h 5814891"/>
              <a:gd name="connsiteX14" fmla="*/ 168477 w 6578337"/>
              <a:gd name="connsiteY14" fmla="*/ 1300525 h 5814891"/>
              <a:gd name="connsiteX15" fmla="*/ 885512 w 6578337"/>
              <a:gd name="connsiteY15" fmla="*/ 515238 h 5814891"/>
              <a:gd name="connsiteX16" fmla="*/ 1494824 w 6578337"/>
              <a:gd name="connsiteY16" fmla="*/ 90742 h 581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8337" h="5814891">
                <a:moveTo>
                  <a:pt x="1667657" y="0"/>
                </a:moveTo>
                <a:lnTo>
                  <a:pt x="5296215" y="0"/>
                </a:lnTo>
                <a:lnTo>
                  <a:pt x="5354505" y="38974"/>
                </a:lnTo>
                <a:cubicBezTo>
                  <a:pt x="5505893" y="152699"/>
                  <a:pt x="5645664" y="283643"/>
                  <a:pt x="5772761" y="430996"/>
                </a:cubicBezTo>
                <a:cubicBezTo>
                  <a:pt x="6292274" y="1033532"/>
                  <a:pt x="6578337" y="1889809"/>
                  <a:pt x="6578337" y="2842158"/>
                </a:cubicBezTo>
                <a:cubicBezTo>
                  <a:pt x="6578337" y="3222117"/>
                  <a:pt x="6467617" y="3527065"/>
                  <a:pt x="6219497" y="3831001"/>
                </a:cubicBezTo>
                <a:cubicBezTo>
                  <a:pt x="5959965" y="4148933"/>
                  <a:pt x="5569997" y="4441763"/>
                  <a:pt x="5157059" y="4751758"/>
                </a:cubicBezTo>
                <a:cubicBezTo>
                  <a:pt x="5080873" y="4808882"/>
                  <a:pt x="5002168" y="4868026"/>
                  <a:pt x="4923464" y="4927890"/>
                </a:cubicBezTo>
                <a:cubicBezTo>
                  <a:pt x="4218974" y="5463640"/>
                  <a:pt x="3704799" y="5814891"/>
                  <a:pt x="3004017" y="5814891"/>
                </a:cubicBezTo>
                <a:cubicBezTo>
                  <a:pt x="1936240" y="5814891"/>
                  <a:pt x="1180025" y="5383723"/>
                  <a:pt x="475534" y="4373098"/>
                </a:cubicBezTo>
                <a:cubicBezTo>
                  <a:pt x="383343" y="4240819"/>
                  <a:pt x="293225" y="4120515"/>
                  <a:pt x="206071" y="4004246"/>
                </a:cubicBezTo>
                <a:cubicBezTo>
                  <a:pt x="160920" y="3943985"/>
                  <a:pt x="118700" y="3887339"/>
                  <a:pt x="79385" y="3833508"/>
                </a:cubicBezTo>
                <a:lnTo>
                  <a:pt x="0" y="3721725"/>
                </a:lnTo>
                <a:lnTo>
                  <a:pt x="0" y="1581323"/>
                </a:lnTo>
                <a:lnTo>
                  <a:pt x="168477" y="1300525"/>
                </a:lnTo>
                <a:cubicBezTo>
                  <a:pt x="359173" y="1017017"/>
                  <a:pt x="599372" y="753795"/>
                  <a:pt x="885512" y="515238"/>
                </a:cubicBezTo>
                <a:cubicBezTo>
                  <a:pt x="1073010" y="358870"/>
                  <a:pt x="1278109" y="216205"/>
                  <a:pt x="1494824" y="90742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220" name="Picture 4" descr="First IBM Quantum Data Center in Europe Opens; Will Include IBM's Most  Performant Quantum Systems - Oct 1, 2024">
            <a:extLst>
              <a:ext uri="{FF2B5EF4-FFF2-40B4-BE49-F238E27FC236}">
                <a16:creationId xmlns:a16="http://schemas.microsoft.com/office/drawing/2014/main" id="{AEDDE7EC-51BB-2B8B-1C3B-0A1AA516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7" r="-1" b="-1"/>
          <a:stretch>
            <a:fillRect/>
          </a:stretch>
        </p:blipFill>
        <p:spPr bwMode="auto">
          <a:xfrm>
            <a:off x="20" y="-2"/>
            <a:ext cx="6323142" cy="5593660"/>
          </a:xfrm>
          <a:custGeom>
            <a:avLst/>
            <a:gdLst/>
            <a:ahLst/>
            <a:cxnLst/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Freeform: Shape 9228">
            <a:extLst>
              <a:ext uri="{FF2B5EF4-FFF2-40B4-BE49-F238E27FC236}">
                <a16:creationId xmlns:a16="http://schemas.microsoft.com/office/drawing/2014/main" id="{CE71458B-DF80-43DF-9693-2EC3878AC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23162" cy="5593660"/>
          </a:xfrm>
          <a:custGeom>
            <a:avLst/>
            <a:gdLst>
              <a:gd name="connsiteX0" fmla="*/ 2177447 w 6323162"/>
              <a:gd name="connsiteY0" fmla="*/ 0 h 5593660"/>
              <a:gd name="connsiteX1" fmla="*/ 2572776 w 6323162"/>
              <a:gd name="connsiteY1" fmla="*/ 0 h 5593660"/>
              <a:gd name="connsiteX2" fmla="*/ 2279674 w 6323162"/>
              <a:gd name="connsiteY2" fmla="*/ 98163 h 5593660"/>
              <a:gd name="connsiteX3" fmla="*/ 1163390 w 6323162"/>
              <a:gd name="connsiteY3" fmla="*/ 758946 h 5593660"/>
              <a:gd name="connsiteX4" fmla="*/ 391288 w 6323162"/>
              <a:gd name="connsiteY4" fmla="*/ 1711778 h 5593660"/>
              <a:gd name="connsiteX5" fmla="*/ 111318 w 6323162"/>
              <a:gd name="connsiteY5" fmla="*/ 2820666 h 5593660"/>
              <a:gd name="connsiteX6" fmla="*/ 574682 w 6323162"/>
              <a:gd name="connsiteY6" fmla="*/ 3850310 h 5593660"/>
              <a:gd name="connsiteX7" fmla="*/ 808161 w 6323162"/>
              <a:gd name="connsiteY7" fmla="*/ 4177123 h 5593660"/>
              <a:gd name="connsiteX8" fmla="*/ 2998992 w 6323162"/>
              <a:gd name="connsiteY8" fmla="*/ 5454594 h 5593660"/>
              <a:gd name="connsiteX9" fmla="*/ 4662117 w 6323162"/>
              <a:gd name="connsiteY9" fmla="*/ 4668685 h 5593660"/>
              <a:gd name="connsiteX10" fmla="*/ 4864518 w 6323162"/>
              <a:gd name="connsiteY10" fmla="*/ 4512627 h 5593660"/>
              <a:gd name="connsiteX11" fmla="*/ 5785079 w 6323162"/>
              <a:gd name="connsiteY11" fmla="*/ 3696808 h 5593660"/>
              <a:gd name="connsiteX12" fmla="*/ 6095999 w 6323162"/>
              <a:gd name="connsiteY12" fmla="*/ 2820666 h 5593660"/>
              <a:gd name="connsiteX13" fmla="*/ 5397999 w 6323162"/>
              <a:gd name="connsiteY13" fmla="*/ 684305 h 5593660"/>
              <a:gd name="connsiteX14" fmla="*/ 4612801 w 6323162"/>
              <a:gd name="connsiteY14" fmla="*/ 81166 h 5593660"/>
              <a:gd name="connsiteX15" fmla="*/ 4406067 w 6323162"/>
              <a:gd name="connsiteY15" fmla="*/ 0 h 5593660"/>
              <a:gd name="connsiteX16" fmla="*/ 4826316 w 6323162"/>
              <a:gd name="connsiteY16" fmla="*/ 0 h 5593660"/>
              <a:gd name="connsiteX17" fmla="*/ 4971508 w 6323162"/>
              <a:gd name="connsiteY17" fmla="*/ 75777 h 5593660"/>
              <a:gd name="connsiteX18" fmla="*/ 5577109 w 6323162"/>
              <a:gd name="connsiteY18" fmla="*/ 586873 h 5593660"/>
              <a:gd name="connsiteX19" fmla="*/ 6323162 w 6323162"/>
              <a:gd name="connsiteY19" fmla="*/ 2829148 h 5593660"/>
              <a:gd name="connsiteX20" fmla="*/ 5990836 w 6323162"/>
              <a:gd name="connsiteY20" fmla="*/ 3748729 h 5593660"/>
              <a:gd name="connsiteX21" fmla="*/ 5006899 w 6323162"/>
              <a:gd name="connsiteY21" fmla="*/ 4604992 h 5593660"/>
              <a:gd name="connsiteX22" fmla="*/ 4790566 w 6323162"/>
              <a:gd name="connsiteY22" fmla="*/ 4768788 h 5593660"/>
              <a:gd name="connsiteX23" fmla="*/ 3012943 w 6323162"/>
              <a:gd name="connsiteY23" fmla="*/ 5593660 h 5593660"/>
              <a:gd name="connsiteX24" fmla="*/ 671286 w 6323162"/>
              <a:gd name="connsiteY24" fmla="*/ 4252856 h 5593660"/>
              <a:gd name="connsiteX25" fmla="*/ 421733 w 6323162"/>
              <a:gd name="connsiteY25" fmla="*/ 3909839 h 5593660"/>
              <a:gd name="connsiteX26" fmla="*/ 48655 w 6323162"/>
              <a:gd name="connsiteY26" fmla="*/ 3351082 h 5593660"/>
              <a:gd name="connsiteX27" fmla="*/ 0 w 6323162"/>
              <a:gd name="connsiteY27" fmla="*/ 3239820 h 5593660"/>
              <a:gd name="connsiteX28" fmla="*/ 0 w 6323162"/>
              <a:gd name="connsiteY28" fmla="*/ 2248150 h 5593660"/>
              <a:gd name="connsiteX29" fmla="*/ 1658 w 6323162"/>
              <a:gd name="connsiteY29" fmla="*/ 2239520 h 5593660"/>
              <a:gd name="connsiteX30" fmla="*/ 225714 w 6323162"/>
              <a:gd name="connsiteY30" fmla="*/ 1665285 h 5593660"/>
              <a:gd name="connsiteX31" fmla="*/ 1050970 w 6323162"/>
              <a:gd name="connsiteY31" fmla="*/ 665214 h 5593660"/>
              <a:gd name="connsiteX32" fmla="*/ 1923692 w 6323162"/>
              <a:gd name="connsiteY32" fmla="*/ 107844 h 5593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323162" h="5593660">
                <a:moveTo>
                  <a:pt x="2177447" y="0"/>
                </a:moveTo>
                <a:lnTo>
                  <a:pt x="2572776" y="0"/>
                </a:lnTo>
                <a:lnTo>
                  <a:pt x="2279674" y="98163"/>
                </a:lnTo>
                <a:cubicBezTo>
                  <a:pt x="1874231" y="253327"/>
                  <a:pt x="1488311" y="481852"/>
                  <a:pt x="1163390" y="758946"/>
                </a:cubicBezTo>
                <a:cubicBezTo>
                  <a:pt x="832819" y="1040772"/>
                  <a:pt x="573013" y="1361447"/>
                  <a:pt x="391288" y="1711778"/>
                </a:cubicBezTo>
                <a:cubicBezTo>
                  <a:pt x="205583" y="2069903"/>
                  <a:pt x="111318" y="2442986"/>
                  <a:pt x="111318" y="2820666"/>
                </a:cubicBezTo>
                <a:cubicBezTo>
                  <a:pt x="111318" y="3201031"/>
                  <a:pt x="261705" y="3423166"/>
                  <a:pt x="574682" y="3850310"/>
                </a:cubicBezTo>
                <a:cubicBezTo>
                  <a:pt x="650197" y="3953327"/>
                  <a:pt x="728281" y="4059920"/>
                  <a:pt x="808161" y="4177123"/>
                </a:cubicBezTo>
                <a:cubicBezTo>
                  <a:pt x="1418574" y="5072567"/>
                  <a:pt x="2073806" y="5454594"/>
                  <a:pt x="2998992" y="5454594"/>
                </a:cubicBezTo>
                <a:cubicBezTo>
                  <a:pt x="3606192" y="5454594"/>
                  <a:pt x="4051705" y="5143376"/>
                  <a:pt x="4662117" y="4668685"/>
                </a:cubicBezTo>
                <a:cubicBezTo>
                  <a:pt x="4730310" y="4615645"/>
                  <a:pt x="4798505" y="4563242"/>
                  <a:pt x="4864518" y="4512627"/>
                </a:cubicBezTo>
                <a:cubicBezTo>
                  <a:pt x="5222313" y="4237963"/>
                  <a:pt x="5560204" y="3978506"/>
                  <a:pt x="5785079" y="3696808"/>
                </a:cubicBezTo>
                <a:cubicBezTo>
                  <a:pt x="6000066" y="3427513"/>
                  <a:pt x="6095999" y="3157320"/>
                  <a:pt x="6095999" y="2820666"/>
                </a:cubicBezTo>
                <a:cubicBezTo>
                  <a:pt x="6095999" y="1976856"/>
                  <a:pt x="5848138" y="1218170"/>
                  <a:pt x="5397999" y="684305"/>
                </a:cubicBezTo>
                <a:cubicBezTo>
                  <a:pt x="5177750" y="423188"/>
                  <a:pt x="4913577" y="220223"/>
                  <a:pt x="4612801" y="81166"/>
                </a:cubicBezTo>
                <a:lnTo>
                  <a:pt x="4406067" y="0"/>
                </a:ln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231" name="Freeform: Shape 9230">
            <a:extLst>
              <a:ext uri="{FF2B5EF4-FFF2-40B4-BE49-F238E27FC236}">
                <a16:creationId xmlns:a16="http://schemas.microsoft.com/office/drawing/2014/main" id="{DE1994AC-22D1-4B48-9EDA-BE373E70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58" y="1415331"/>
            <a:ext cx="5665992" cy="5466522"/>
          </a:xfrm>
          <a:custGeom>
            <a:avLst/>
            <a:gdLst>
              <a:gd name="connsiteX0" fmla="*/ 3113576 w 5665992"/>
              <a:gd name="connsiteY0" fmla="*/ 1556 h 5401530"/>
              <a:gd name="connsiteX1" fmla="*/ 4468777 w 5665992"/>
              <a:gd name="connsiteY1" fmla="*/ 405866 h 5401530"/>
              <a:gd name="connsiteX2" fmla="*/ 5525792 w 5665992"/>
              <a:gd name="connsiteY2" fmla="*/ 1317461 h 5401530"/>
              <a:gd name="connsiteX3" fmla="*/ 5665992 w 5665992"/>
              <a:gd name="connsiteY3" fmla="*/ 1506159 h 5401530"/>
              <a:gd name="connsiteX4" fmla="*/ 5665992 w 5665992"/>
              <a:gd name="connsiteY4" fmla="*/ 5401530 h 5401530"/>
              <a:gd name="connsiteX5" fmla="*/ 965932 w 5665992"/>
              <a:gd name="connsiteY5" fmla="*/ 5401530 h 5401530"/>
              <a:gd name="connsiteX6" fmla="*/ 836753 w 5665992"/>
              <a:gd name="connsiteY6" fmla="*/ 5181943 h 5401530"/>
              <a:gd name="connsiteX7" fmla="*/ 509793 w 5665992"/>
              <a:gd name="connsiteY7" fmla="*/ 4458111 h 5401530"/>
              <a:gd name="connsiteX8" fmla="*/ 251995 w 5665992"/>
              <a:gd name="connsiteY8" fmla="*/ 1805844 h 5401530"/>
              <a:gd name="connsiteX9" fmla="*/ 3113576 w 5665992"/>
              <a:gd name="connsiteY9" fmla="*/ 1556 h 540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5992" h="5401530">
                <a:moveTo>
                  <a:pt x="3113576" y="1556"/>
                </a:moveTo>
                <a:cubicBezTo>
                  <a:pt x="3559807" y="16866"/>
                  <a:pt x="4018025" y="145625"/>
                  <a:pt x="4468777" y="405866"/>
                </a:cubicBezTo>
                <a:cubicBezTo>
                  <a:pt x="4871803" y="638554"/>
                  <a:pt x="5229811" y="952545"/>
                  <a:pt x="5525792" y="1317461"/>
                </a:cubicBezTo>
                <a:lnTo>
                  <a:pt x="5665992" y="1506159"/>
                </a:lnTo>
                <a:lnTo>
                  <a:pt x="5665992" y="5401530"/>
                </a:lnTo>
                <a:lnTo>
                  <a:pt x="965932" y="5401530"/>
                </a:lnTo>
                <a:lnTo>
                  <a:pt x="836753" y="5181943"/>
                </a:lnTo>
                <a:cubicBezTo>
                  <a:pt x="713569" y="4953383"/>
                  <a:pt x="611679" y="4708683"/>
                  <a:pt x="509793" y="4458111"/>
                </a:cubicBezTo>
                <a:cubicBezTo>
                  <a:pt x="136790" y="3540808"/>
                  <a:pt x="-278612" y="2724882"/>
                  <a:pt x="251995" y="1805844"/>
                </a:cubicBezTo>
                <a:cubicBezTo>
                  <a:pt x="911122" y="664202"/>
                  <a:pt x="1973207" y="-37572"/>
                  <a:pt x="3113576" y="1556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218" name="Picture 2" descr="Google's Plan To Create The World's First Quantum Computer - YouTube">
            <a:extLst>
              <a:ext uri="{FF2B5EF4-FFF2-40B4-BE49-F238E27FC236}">
                <a16:creationId xmlns:a16="http://schemas.microsoft.com/office/drawing/2014/main" id="{EBAEEE38-0195-5BDE-2D86-B6E917DD3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2" r="24407" b="-2"/>
          <a:stretch>
            <a:fillRect/>
          </a:stretch>
        </p:blipFill>
        <p:spPr bwMode="auto">
          <a:xfrm>
            <a:off x="6795930" y="1685367"/>
            <a:ext cx="5396070" cy="5172635"/>
          </a:xfrm>
          <a:custGeom>
            <a:avLst/>
            <a:gdLst/>
            <a:ahLst/>
            <a:cxnLst/>
            <a:rect l="l" t="t" r="r" b="b"/>
            <a:pathLst>
              <a:path w="5396070" h="5172635">
                <a:moveTo>
                  <a:pt x="2809770" y="1442"/>
                </a:moveTo>
                <a:cubicBezTo>
                  <a:pt x="3212462" y="15635"/>
                  <a:pt x="3625968" y="134989"/>
                  <a:pt x="4032739" y="376223"/>
                </a:cubicBezTo>
                <a:cubicBezTo>
                  <a:pt x="4589656" y="706501"/>
                  <a:pt x="5051318" y="1213487"/>
                  <a:pt x="5362614" y="1796088"/>
                </a:cubicBezTo>
                <a:lnTo>
                  <a:pt x="5396070" y="1864600"/>
                </a:lnTo>
                <a:lnTo>
                  <a:pt x="5396070" y="4888539"/>
                </a:lnTo>
                <a:lnTo>
                  <a:pt x="5373530" y="4924165"/>
                </a:lnTo>
                <a:cubicBezTo>
                  <a:pt x="5310112" y="5013254"/>
                  <a:pt x="5241620" y="5088864"/>
                  <a:pt x="5168684" y="5154829"/>
                </a:cubicBezTo>
                <a:lnTo>
                  <a:pt x="5146924" y="5172635"/>
                </a:lnTo>
                <a:lnTo>
                  <a:pt x="987172" y="5172635"/>
                </a:lnTo>
                <a:lnTo>
                  <a:pt x="842383" y="4959392"/>
                </a:lnTo>
                <a:cubicBezTo>
                  <a:pt x="689919" y="4704655"/>
                  <a:pt x="574982" y="4422821"/>
                  <a:pt x="460051" y="4132485"/>
                </a:cubicBezTo>
                <a:cubicBezTo>
                  <a:pt x="123442" y="3282182"/>
                  <a:pt x="-251427" y="2525854"/>
                  <a:pt x="227408" y="1673941"/>
                </a:cubicBezTo>
                <a:cubicBezTo>
                  <a:pt x="822220" y="615687"/>
                  <a:pt x="1780673" y="-34829"/>
                  <a:pt x="2809770" y="14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3" name="Freeform: Shape 9232">
            <a:extLst>
              <a:ext uri="{FF2B5EF4-FFF2-40B4-BE49-F238E27FC236}">
                <a16:creationId xmlns:a16="http://schemas.microsoft.com/office/drawing/2014/main" id="{22220111-5018-4EB7-A38B-79BD37F7C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5930" y="1685365"/>
            <a:ext cx="5396070" cy="5172635"/>
          </a:xfrm>
          <a:custGeom>
            <a:avLst/>
            <a:gdLst>
              <a:gd name="connsiteX0" fmla="*/ 2809770 w 5396070"/>
              <a:gd name="connsiteY0" fmla="*/ 1442 h 5172635"/>
              <a:gd name="connsiteX1" fmla="*/ 4032739 w 5396070"/>
              <a:gd name="connsiteY1" fmla="*/ 376223 h 5172635"/>
              <a:gd name="connsiteX2" fmla="*/ 5362614 w 5396070"/>
              <a:gd name="connsiteY2" fmla="*/ 1796088 h 5172635"/>
              <a:gd name="connsiteX3" fmla="*/ 5396070 w 5396070"/>
              <a:gd name="connsiteY3" fmla="*/ 1864599 h 5172635"/>
              <a:gd name="connsiteX4" fmla="*/ 5396070 w 5396070"/>
              <a:gd name="connsiteY4" fmla="*/ 1981756 h 5172635"/>
              <a:gd name="connsiteX5" fmla="*/ 5363566 w 5396070"/>
              <a:gd name="connsiteY5" fmla="*/ 1915670 h 5172635"/>
              <a:gd name="connsiteX6" fmla="*/ 4071524 w 5396070"/>
              <a:gd name="connsiteY6" fmla="*/ 546090 h 5172635"/>
              <a:gd name="connsiteX7" fmla="*/ 2883346 w 5396070"/>
              <a:gd name="connsiteY7" fmla="*/ 184583 h 5172635"/>
              <a:gd name="connsiteX8" fmla="*/ 374449 w 5396070"/>
              <a:gd name="connsiteY8" fmla="*/ 1797850 h 5172635"/>
              <a:gd name="connsiteX9" fmla="*/ 600473 w 5396070"/>
              <a:gd name="connsiteY9" fmla="*/ 4169322 h 5172635"/>
              <a:gd name="connsiteX10" fmla="*/ 971928 w 5396070"/>
              <a:gd name="connsiteY10" fmla="*/ 4966944 h 5172635"/>
              <a:gd name="connsiteX11" fmla="*/ 1112598 w 5396070"/>
              <a:gd name="connsiteY11" fmla="*/ 5172635 h 5172635"/>
              <a:gd name="connsiteX12" fmla="*/ 987172 w 5396070"/>
              <a:gd name="connsiteY12" fmla="*/ 5172635 h 5172635"/>
              <a:gd name="connsiteX13" fmla="*/ 842383 w 5396070"/>
              <a:gd name="connsiteY13" fmla="*/ 4959392 h 5172635"/>
              <a:gd name="connsiteX14" fmla="*/ 460051 w 5396070"/>
              <a:gd name="connsiteY14" fmla="*/ 4132485 h 5172635"/>
              <a:gd name="connsiteX15" fmla="*/ 227408 w 5396070"/>
              <a:gd name="connsiteY15" fmla="*/ 1673941 h 5172635"/>
              <a:gd name="connsiteX16" fmla="*/ 2809770 w 5396070"/>
              <a:gd name="connsiteY16" fmla="*/ 1442 h 517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96070" h="5172635">
                <a:moveTo>
                  <a:pt x="2809770" y="1442"/>
                </a:moveTo>
                <a:cubicBezTo>
                  <a:pt x="3212462" y="15635"/>
                  <a:pt x="3625968" y="134989"/>
                  <a:pt x="4032739" y="376223"/>
                </a:cubicBezTo>
                <a:cubicBezTo>
                  <a:pt x="4589656" y="706501"/>
                  <a:pt x="5051318" y="1213487"/>
                  <a:pt x="5362614" y="1796088"/>
                </a:cubicBezTo>
                <a:lnTo>
                  <a:pt x="5396070" y="1864599"/>
                </a:lnTo>
                <a:lnTo>
                  <a:pt x="5396070" y="1981756"/>
                </a:lnTo>
                <a:lnTo>
                  <a:pt x="5363566" y="1915670"/>
                </a:lnTo>
                <a:cubicBezTo>
                  <a:pt x="5061125" y="1353703"/>
                  <a:pt x="4612597" y="864671"/>
                  <a:pt x="4071524" y="546090"/>
                </a:cubicBezTo>
                <a:cubicBezTo>
                  <a:pt x="3676324" y="313400"/>
                  <a:pt x="3274582" y="198273"/>
                  <a:pt x="2883346" y="184583"/>
                </a:cubicBezTo>
                <a:cubicBezTo>
                  <a:pt x="1883526" y="149597"/>
                  <a:pt x="952339" y="777074"/>
                  <a:pt x="374449" y="1797850"/>
                </a:cubicBezTo>
                <a:cubicBezTo>
                  <a:pt x="-90765" y="2619591"/>
                  <a:pt x="273440" y="3349133"/>
                  <a:pt x="600473" y="4169322"/>
                </a:cubicBezTo>
                <a:cubicBezTo>
                  <a:pt x="712134" y="4449376"/>
                  <a:pt x="823802" y="4721229"/>
                  <a:pt x="971928" y="4966944"/>
                </a:cubicBezTo>
                <a:lnTo>
                  <a:pt x="1112598" y="5172635"/>
                </a:lnTo>
                <a:lnTo>
                  <a:pt x="987172" y="5172635"/>
                </a:lnTo>
                <a:lnTo>
                  <a:pt x="842383" y="4959392"/>
                </a:lnTo>
                <a:cubicBezTo>
                  <a:pt x="689919" y="4704655"/>
                  <a:pt x="574981" y="4422821"/>
                  <a:pt x="460051" y="4132485"/>
                </a:cubicBezTo>
                <a:cubicBezTo>
                  <a:pt x="123442" y="3282182"/>
                  <a:pt x="-251427" y="2525854"/>
                  <a:pt x="227408" y="1673941"/>
                </a:cubicBezTo>
                <a:cubicBezTo>
                  <a:pt x="822220" y="615687"/>
                  <a:pt x="1780673" y="-34829"/>
                  <a:pt x="2809770" y="1442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04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8A4DE-8CC8-1974-04F7-B4374EF0A5DE}"/>
              </a:ext>
            </a:extLst>
          </p:cNvPr>
          <p:cNvSpPr txBox="1"/>
          <p:nvPr/>
        </p:nvSpPr>
        <p:spPr>
          <a:xfrm>
            <a:off x="2438400" y="203200"/>
            <a:ext cx="679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Important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DEAE2-F889-052B-509C-2656A11F0B7A}"/>
              </a:ext>
            </a:extLst>
          </p:cNvPr>
          <p:cNvSpPr txBox="1"/>
          <p:nvPr/>
        </p:nvSpPr>
        <p:spPr>
          <a:xfrm>
            <a:off x="312057" y="1016000"/>
            <a:ext cx="577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Qubits: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Basic units of quantum information that can exist in multiple states (0 and 1) simultaneously.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DDF23-DAA4-6931-E8F5-430430CD7774}"/>
              </a:ext>
            </a:extLst>
          </p:cNvPr>
          <p:cNvSpPr txBox="1"/>
          <p:nvPr/>
        </p:nvSpPr>
        <p:spPr>
          <a:xfrm>
            <a:off x="6154057" y="1981200"/>
            <a:ext cx="617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Superposition: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A qubit can hold multiple states at once, enabling massive parallelism.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B85CB-4FD0-AF95-7D0E-681ED1760EA3}"/>
              </a:ext>
            </a:extLst>
          </p:cNvPr>
          <p:cNvSpPr txBox="1"/>
          <p:nvPr/>
        </p:nvSpPr>
        <p:spPr>
          <a:xfrm>
            <a:off x="246743" y="33528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Entanglement: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Strong correlation between qubits that enables coordinated processing.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98C08-F182-56F6-51F2-21CB7AF35472}"/>
              </a:ext>
            </a:extLst>
          </p:cNvPr>
          <p:cNvSpPr txBox="1"/>
          <p:nvPr/>
        </p:nvSpPr>
        <p:spPr>
          <a:xfrm>
            <a:off x="5711370" y="4891314"/>
            <a:ext cx="602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Quantum Gates: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Operations that manipulate qubits using quantum logic.</a:t>
            </a:r>
          </a:p>
        </p:txBody>
      </p:sp>
      <p:pic>
        <p:nvPicPr>
          <p:cNvPr id="3074" name="Picture 2" descr="What is Quantum Computing?">
            <a:extLst>
              <a:ext uri="{FF2B5EF4-FFF2-40B4-BE49-F238E27FC236}">
                <a16:creationId xmlns:a16="http://schemas.microsoft.com/office/drawing/2014/main" id="{4087E904-9475-DC65-3F0D-12F4AF6A2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852" y="1816101"/>
            <a:ext cx="2328748" cy="13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eing Quantum Weirdness: Superposition, Entanglement, and Tunneling">
            <a:extLst>
              <a:ext uri="{FF2B5EF4-FFF2-40B4-BE49-F238E27FC236}">
                <a16:creationId xmlns:a16="http://schemas.microsoft.com/office/drawing/2014/main" id="{7FBB8589-934C-4AB7-1E6E-D389A8147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284" y="2931886"/>
            <a:ext cx="3038929" cy="170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Basics Of Quantum Entanglement And Its Applications">
            <a:extLst>
              <a:ext uri="{FF2B5EF4-FFF2-40B4-BE49-F238E27FC236}">
                <a16:creationId xmlns:a16="http://schemas.microsoft.com/office/drawing/2014/main" id="{68F93A7B-75AF-DAC4-7255-429BE0774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057" y="4142015"/>
            <a:ext cx="3853543" cy="203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59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3BBA9-DA9A-5907-F3F1-D2B71D939E5A}"/>
              </a:ext>
            </a:extLst>
          </p:cNvPr>
          <p:cNvSpPr txBox="1"/>
          <p:nvPr/>
        </p:nvSpPr>
        <p:spPr>
          <a:xfrm>
            <a:off x="838201" y="365125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The Problem - Million-Dollar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94638-4325-2B47-6CB8-C3930F92AE4B}"/>
              </a:ext>
            </a:extLst>
          </p:cNvPr>
          <p:cNvSpPr txBox="1"/>
          <p:nvPr/>
        </p:nvSpPr>
        <p:spPr>
          <a:xfrm>
            <a:off x="838200" y="2333297"/>
            <a:ext cx="4619621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Quantum computers are highly sensitive to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noise, decoherence, and hardware imperfections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which lead to unpredictable errors.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These errors significantly reduce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gate fidelity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circuit accuracy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and the overall reliability of quantum computations.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Current quantum hardware lacks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real-time prediction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 of when and where errors will occur.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Without error prediction, quantum algorithms require repeated execution, causing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high cost, longer computation time, and low efficiency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There is a need for an intelligent system that can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forecast quantum errors in advance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enabling better circuit optimization and resource utilization.</a:t>
            </a:r>
          </a:p>
        </p:txBody>
      </p:sp>
      <p:pic>
        <p:nvPicPr>
          <p:cNvPr id="4106" name="Picture 10" descr="Google Team Forges Path Toward Better Error Correction">
            <a:extLst>
              <a:ext uri="{FF2B5EF4-FFF2-40B4-BE49-F238E27FC236}">
                <a16:creationId xmlns:a16="http://schemas.microsoft.com/office/drawing/2014/main" id="{B034C9AE-972D-764B-63A8-05B0D521A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2" r="18228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A77778-6A6C-B73F-1B6E-E0610E33E3E7}"/>
              </a:ext>
            </a:extLst>
          </p:cNvPr>
          <p:cNvSpPr txBox="1"/>
          <p:nvPr/>
        </p:nvSpPr>
        <p:spPr>
          <a:xfrm>
            <a:off x="7336972" y="4339772"/>
            <a:ext cx="4927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</a:rPr>
              <a:t>REAL-WORLD IMPACT: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System downtime: $50K-$100K per hour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Hardware damage: $2M-$5M per incident  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Lost research: Priceless quantum data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Delayed breakthroughs: Competitive disadvantage</a:t>
            </a:r>
          </a:p>
          <a:p>
            <a:pPr latinLnBrk="1"/>
            <a:endParaRPr lang="en-IN" b="1" dirty="0">
              <a:solidFill>
                <a:schemeClr val="bg1"/>
              </a:solidFill>
            </a:endParaRP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CURRENT REALITY: Reactive error detection = Too late!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57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 descr="Microsoft Introduces Its First Quantum Computing Chip -- Campus Technology">
            <a:extLst>
              <a:ext uri="{FF2B5EF4-FFF2-40B4-BE49-F238E27FC236}">
                <a16:creationId xmlns:a16="http://schemas.microsoft.com/office/drawing/2014/main" id="{624CB434-EFF8-48EB-C1E4-95A3ADB9F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6" r="8032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84960-E1EF-1263-CFD5-364C4127A298}"/>
              </a:ext>
            </a:extLst>
          </p:cNvPr>
          <p:cNvSpPr txBox="1"/>
          <p:nvPr/>
        </p:nvSpPr>
        <p:spPr>
          <a:xfrm>
            <a:off x="7342924" y="1534315"/>
            <a:ext cx="5509476" cy="1716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FROM: Reactive Error Detection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TO:   Proactive Error Prevention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247A5C-C208-533B-729F-6A52F937A812}"/>
              </a:ext>
            </a:extLst>
          </p:cNvPr>
          <p:cNvSpPr txBox="1"/>
          <p:nvPr/>
        </p:nvSpPr>
        <p:spPr>
          <a:xfrm>
            <a:off x="6872514" y="566057"/>
            <a:ext cx="53194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 OUR INNOVATION</a:t>
            </a:r>
          </a:p>
          <a:p>
            <a:endParaRPr lang="en-IN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F9E60-CCB4-20B8-2CD9-669D6DE1755B}"/>
              </a:ext>
            </a:extLst>
          </p:cNvPr>
          <p:cNvSpPr txBox="1"/>
          <p:nvPr/>
        </p:nvSpPr>
        <p:spPr>
          <a:xfrm>
            <a:off x="7801428" y="3171371"/>
            <a:ext cx="3897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Machine learning models </a:t>
            </a:r>
            <a:r>
              <a:rPr lang="en-GB" b="1" dirty="0" err="1">
                <a:solidFill>
                  <a:schemeClr val="accent5">
                    <a:lumMod val="75000"/>
                  </a:schemeClr>
                </a:solidFill>
              </a:rPr>
              <a:t>analyze</a:t>
            </a:r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 system parameters</a:t>
            </a:r>
          </a:p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Predict errors BEFORE they occur</a:t>
            </a:r>
          </a:p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Calculate financial impact of decisions</a:t>
            </a:r>
          </a:p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Provide actionable recommendations</a:t>
            </a:r>
          </a:p>
          <a:p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76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615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8" name="Picture 4" descr="govindhtech on X">
            <a:extLst>
              <a:ext uri="{FF2B5EF4-FFF2-40B4-BE49-F238E27FC236}">
                <a16:creationId xmlns:a16="http://schemas.microsoft.com/office/drawing/2014/main" id="{9D2E541A-390B-F857-C0E4-24F8E12A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0002F4-9ABF-E723-2972-90E367C34358}"/>
              </a:ext>
            </a:extLst>
          </p:cNvPr>
          <p:cNvSpPr txBox="1"/>
          <p:nvPr/>
        </p:nvSpPr>
        <p:spPr>
          <a:xfrm>
            <a:off x="1778741" y="783378"/>
            <a:ext cx="5413088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🛠 SYSTEM ARCHITECTURE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80A16-18A5-7A70-6C68-D92C07707845}"/>
              </a:ext>
            </a:extLst>
          </p:cNvPr>
          <p:cNvSpPr txBox="1"/>
          <p:nvPr/>
        </p:nvSpPr>
        <p:spPr>
          <a:xfrm>
            <a:off x="1836800" y="1922088"/>
            <a:ext cx="5304230" cy="137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dirty="0">
                <a:solidFill>
                  <a:schemeClr val="bg1"/>
                </a:solidFill>
                <a:effectLst/>
              </a:rPr>
              <a:t>DATA FLOW: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dirty="0">
                <a:solidFill>
                  <a:schemeClr val="bg1"/>
                </a:solidFill>
                <a:effectLst/>
              </a:rPr>
              <a:t>Quantum Parameters → ML Model → Prediction → Business Impact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E341E-EF1A-2F63-FD0F-A0593BB662F9}"/>
              </a:ext>
            </a:extLst>
          </p:cNvPr>
          <p:cNvSpPr txBox="1"/>
          <p:nvPr/>
        </p:nvSpPr>
        <p:spPr>
          <a:xfrm>
            <a:off x="1776186" y="5015188"/>
            <a:ext cx="4479471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Data Generation: 15,000 synthetic quantum circuits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Feature Engineering: Quantum-aware parameters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Machine Learning: Multiple model comparison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Web Interface: Real-time predictions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Business Logic: Financial impact calculation</a:t>
            </a:r>
          </a:p>
        </p:txBody>
      </p:sp>
    </p:spTree>
    <p:extLst>
      <p:ext uri="{BB962C8B-B14F-4D97-AF65-F5344CB8AC3E}">
        <p14:creationId xmlns:p14="http://schemas.microsoft.com/office/powerpoint/2010/main" val="54890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3" name="Rectangle 718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8" name="Picture 10" descr="Quantum Computing and the Future of 3D Rendering - A23D">
            <a:extLst>
              <a:ext uri="{FF2B5EF4-FFF2-40B4-BE49-F238E27FC236}">
                <a16:creationId xmlns:a16="http://schemas.microsoft.com/office/drawing/2014/main" id="{19827B6C-E2B7-E949-9781-47FCFBF01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 r="9344" b="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5" name="Rectangle 718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E82CC-CAD3-BAE9-AE63-E4BF8EB66520}"/>
              </a:ext>
            </a:extLst>
          </p:cNvPr>
          <p:cNvSpPr txBox="1"/>
          <p:nvPr/>
        </p:nvSpPr>
        <p:spPr>
          <a:xfrm>
            <a:off x="83820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DATA STRATEGY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C81AF-A438-306F-B826-75F443B0D256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Gate Fidelity (0.9-0.999)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Coherence Time (10-100μs)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Temperature (10-50mK)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Circuit Complexity metrics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Qubit Connectivity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Crosstalk</a:t>
            </a:r>
          </a:p>
        </p:txBody>
      </p:sp>
      <p:sp>
        <p:nvSpPr>
          <p:cNvPr id="15" name="AutoShape 6" descr="The software-defined quantum data center | Q-CTRL">
            <a:extLst>
              <a:ext uri="{FF2B5EF4-FFF2-40B4-BE49-F238E27FC236}">
                <a16:creationId xmlns:a16="http://schemas.microsoft.com/office/drawing/2014/main" id="{71051F15-9929-566C-06D6-DCFCEB5E7F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085771" cy="408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2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DIFFERENT MACHINE LEARNING MODELS | by Deepika Yadav | Medium">
            <a:extLst>
              <a:ext uri="{FF2B5EF4-FFF2-40B4-BE49-F238E27FC236}">
                <a16:creationId xmlns:a16="http://schemas.microsoft.com/office/drawing/2014/main" id="{968E637B-82B0-ABBE-1FED-FD98DBCF7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" r="2538" b="-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3" name="Rectangle 820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F57E3-33A6-2022-5948-13A0F8003711}"/>
              </a:ext>
            </a:extLst>
          </p:cNvPr>
          <p:cNvSpPr txBox="1"/>
          <p:nvPr/>
        </p:nvSpPr>
        <p:spPr>
          <a:xfrm>
            <a:off x="533400" y="685229"/>
            <a:ext cx="5765800" cy="107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accent5">
                    <a:lumMod val="75000"/>
                  </a:schemeClr>
                </a:solidFill>
              </a:rPr>
              <a:t>MODEL SELECTION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1326B-FC39-27C7-0D2E-543F14FC52F4}"/>
              </a:ext>
            </a:extLst>
          </p:cNvPr>
          <p:cNvSpPr txBox="1"/>
          <p:nvPr/>
        </p:nvSpPr>
        <p:spPr>
          <a:xfrm>
            <a:off x="537029" y="1622664"/>
            <a:ext cx="6096000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effectLst/>
                <a:latin typeface="Menlo"/>
              </a:rPr>
              <a:t>TESTED 4 ALGORITHMS: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effectLst/>
                <a:latin typeface="Menlo"/>
              </a:rPr>
              <a:t>1. Logistic Regression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effectLst/>
                <a:latin typeface="Menlo"/>
              </a:rPr>
              <a:t>2. Random Forest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effectLst/>
                <a:latin typeface="Menlo"/>
              </a:rPr>
              <a:t>3. Gradient Boosting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effectLst/>
                <a:latin typeface="Menlo"/>
              </a:rPr>
              <a:t>4. Support Vector Machines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64289-77CA-0463-9D87-6404A0A72174}"/>
              </a:ext>
            </a:extLst>
          </p:cNvPr>
          <p:cNvSpPr txBox="1"/>
          <p:nvPr/>
        </p:nvSpPr>
        <p:spPr>
          <a:xfrm>
            <a:off x="478972" y="3243943"/>
            <a:ext cx="3722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WHY LOGISTIC REGRESSION WON: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Best Performance: 87% ROC-AUC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Fastest Inference: 10ms predictions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Business Interpretable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Probabilistic Outputs Perfect for Risk</a:t>
            </a:r>
          </a:p>
          <a:p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19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7E4BA3-8767-F6F9-48AA-8A41D23D5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83"/>
            <a:ext cx="12192000" cy="67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8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DFF36-B663-2833-A59D-06A537100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/>
              <a:t>Quantum Computing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485F-00F5-407F-8D82-6E33119CA496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ct val="87000"/>
            </a:pPr>
            <a:r>
              <a:rPr lang="en-US" sz="2400" b="1" cap="all" spc="300"/>
              <a:t>Thank you</a:t>
            </a:r>
          </a:p>
        </p:txBody>
      </p:sp>
      <p:pic>
        <p:nvPicPr>
          <p:cNvPr id="4" name="Picture 2" descr="Google's quantum computer hits key milestone by reducing errors">
            <a:extLst>
              <a:ext uri="{FF2B5EF4-FFF2-40B4-BE49-F238E27FC236}">
                <a16:creationId xmlns:a16="http://schemas.microsoft.com/office/drawing/2014/main" id="{7D062CE9-C881-6389-B3AC-047488AE5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6" r="39877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49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70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A3B4870-65C6-40D6-A33F-BE3571DD509A}">
  <we:reference id="wa200005566" version="3.0.0.2" store="en-I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ADB2340-AC08-42F3-BE06-EEF5C9319984}">
  <we:reference id="wa200005669" version="2.0.0.0" store="en-IN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487</Words>
  <Application>Microsoft Office PowerPoint</Application>
  <PresentationFormat>Widescreen</PresentationFormat>
  <Paragraphs>66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Quantum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Mamun .</dc:creator>
  <cp:lastModifiedBy>divakaran ap</cp:lastModifiedBy>
  <cp:revision>2</cp:revision>
  <dcterms:created xsi:type="dcterms:W3CDTF">2025-11-20T18:44:34Z</dcterms:created>
  <dcterms:modified xsi:type="dcterms:W3CDTF">2026-09-04T05:34:18Z</dcterms:modified>
</cp:coreProperties>
</file>